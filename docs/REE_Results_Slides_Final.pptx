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condition-key CV (honest)</a:t>
            </a:r>
          </a:p>
          <a:p>
            <a:pPr algn="l">
              <a:spcAft>
                <a:spcPts val="800"/>
              </a:spcAft>
            </a:pPr>
            <a:r>
              <a:rPr sz="1800" b="1" i="0">
                <a:solidFill>
                  <a:srgbClr val="000000"/>
                </a:solidFill>
                <a:latin typeface="Arial"/>
              </a:rPr>
              <a:t>R-squared 0.61     RMSE 0.979</a:t>
            </a:r>
          </a:p>
          <a:p>
            <a:pPr algn="l">
              <a:spcAft>
                <a:spcPts val="600"/>
              </a:spcAft>
            </a:pPr>
            <a:r>
              <a:rPr sz="1500" b="0" i="0">
                <a:solidFill>
                  <a:srgbClr val="000000"/>
                </a:solidFill>
                <a:latin typeface="Arial"/>
              </a:rPr>
              <a:t>Most confident 10 percent: R-squared 0.874, RMSE 0.430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0.874 and RMSE 0.430, against 0.61 and 0.979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about 0.46, RMSE 6.3 kJ/mol) than per-row (0.28), molecule-grouped so the extractants are new. The 0.473 shown elsewhere was a selected maximum; the mean over shuffled splits is 0.461 plus or minus 0.009. Confidence is strong: the most confident tenth drop RMSE to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about 0.46 plus or minus 0.01 (RMSE 6.3 kJ/mol) for the per-pair free energy; 0.473 was the maximum of the search, the mean over splits is 0.461.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UCB and active-learning results</a:t>
            </a:r>
          </a:p>
        </p:txBody>
      </p:sp>
      <p:pic>
        <p:nvPicPr>
          <p:cNvPr id="3" name="Picture 2" descr="ucb_graphs.png"/>
          <p:cNvPicPr>
            <a:picLocks noChangeAspect="1"/>
          </p:cNvPicPr>
          <p:nvPr/>
        </p:nvPicPr>
        <p:blipFill>
          <a:blip r:embed="rId2"/>
          <a:stretch>
            <a:fillRect/>
          </a:stretch>
        </p:blipFill>
        <p:spPr>
          <a:xfrm>
            <a:off x="426567" y="1600200"/>
            <a:ext cx="11338560" cy="3276437"/>
          </a:xfrm>
          <a:prstGeom prst="rect">
            <a:avLst/>
          </a:prstGeom>
        </p:spPr>
      </p:pic>
      <p:sp>
        <p:nvSpPr>
          <p:cNvPr id="4" name="TextBox 3"/>
          <p:cNvSpPr txBox="1"/>
          <p:nvPr/>
        </p:nvSpPr>
        <p:spPr>
          <a:xfrm>
            <a:off x="640080" y="5041229"/>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sampling the uncertain points builds the best model. Middle: ranking by prediction (greedy) or UCB finds the strongest extractants fastest. Right: for a one-shot pick on delta G, greedy reaches the most negative, strongest extractants, UCB sits in the middle, and random gets nothing. UCB does not beat the simpler choices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calibrated intervals</a:t>
            </a:r>
          </a:p>
        </p:txBody>
      </p:sp>
      <p:pic>
        <p:nvPicPr>
          <p:cNvPr id="3" name="Picture 2" descr="active_analysis.png"/>
          <p:cNvPicPr>
            <a:picLocks noChangeAspect="1"/>
          </p:cNvPicPr>
          <p:nvPr/>
        </p:nvPicPr>
        <p:blipFill>
          <a:blip r:embed="rId2"/>
          <a:stretch>
            <a:fillRect/>
          </a:stretch>
        </p:blipFill>
        <p:spPr>
          <a:xfrm>
            <a:off x="426567" y="1600200"/>
            <a:ext cx="11338560" cy="3278024"/>
          </a:xfrm>
          <a:prstGeom prst="rect">
            <a:avLst/>
          </a:prstGeom>
        </p:spPr>
      </p:pic>
      <p:sp>
        <p:nvSpPr>
          <p:cNvPr id="4" name="TextBox 3"/>
          <p:cNvSpPr txBox="1"/>
          <p:nvPr/>
        </p:nvSpPr>
        <p:spPr>
          <a:xfrm>
            <a:off x="640080" y="5042816"/>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the delta G intervals are calibrated, target coverage matches empirical coverage at every level. Middle: keeping only the most confident predictions raises R-squared from 0.47 to 0.78 and cuts RMSE from 6.3 to 3.6 kJ/mol. Right: the most confident quarter (blue) hug the diagonal. Calibrated, heterogeneous intervals are what let the model say which predictions to trust and which to test.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Honest numbers after the audit</a:t>
            </a:r>
          </a:p>
        </p:txBody>
      </p:sp>
      <p:sp>
        <p:nvSpPr>
          <p:cNvPr id="3" name="TextBox 2"/>
          <p:cNvSpPr txBox="1"/>
          <p:nvPr/>
        </p:nvSpPr>
        <p:spPr>
          <a:xfrm>
            <a:off x="640080" y="1371600"/>
            <a:ext cx="10972800" cy="5120640"/>
          </a:xfrm>
          <a:prstGeom prst="rect">
            <a:avLst/>
          </a:prstGeom>
          <a:noFill/>
        </p:spPr>
        <p:txBody>
          <a:bodyPr wrap="square" lIns="0" rIns="0" tIns="0" bIns="0">
            <a:spAutoFit/>
          </a:bodyPr>
          <a:lstStyle/>
          <a:p>
            <a:pPr algn="l">
              <a:spcAft>
                <a:spcPts val="1300"/>
              </a:spcAft>
            </a:pPr>
            <a:r>
              <a:rPr sz="1500" b="1">
                <a:solidFill>
                  <a:srgbClr val="000000"/>
                </a:solidFill>
                <a:latin typeface="Arial"/>
              </a:rPr>
              <a:t>Track A (new molecule):  </a:t>
            </a:r>
            <a:r>
              <a:rPr sz="1500" b="0">
                <a:solidFill>
                  <a:srgbClr val="000000"/>
                </a:solidFill>
                <a:latin typeface="Arial"/>
              </a:rPr>
              <a:t>logD R-squared 0.466, unchanged and honest.</a:t>
            </a:r>
          </a:p>
          <a:p>
            <a:pPr algn="l">
              <a:spcAft>
                <a:spcPts val="1300"/>
              </a:spcAft>
            </a:pPr>
            <a:r>
              <a:rPr sz="1500" b="1">
                <a:solidFill>
                  <a:srgbClr val="000000"/>
                </a:solidFill>
                <a:latin typeface="Arial"/>
              </a:rPr>
              <a:t>Track B (known molecule):  </a:t>
            </a:r>
            <a:r>
              <a:rPr sz="1500" b="0">
                <a:solidFill>
                  <a:srgbClr val="000000"/>
                </a:solidFill>
                <a:latin typeface="Arial"/>
              </a:rPr>
              <a:t>honest R-squared about 0.61, interpolating conditions for a molecule already seen. The 0.725 figure was a random-row split that memorizes replicates; on genuinely new molecules these features fall to about 0.44.</a:t>
            </a:r>
          </a:p>
          <a:p>
            <a:pPr algn="l">
              <a:spcAft>
                <a:spcPts val="1300"/>
              </a:spcAft>
            </a:pPr>
            <a:r>
              <a:rPr sz="1500" b="1">
                <a:solidFill>
                  <a:srgbClr val="000000"/>
                </a:solidFill>
                <a:latin typeface="Arial"/>
              </a:rPr>
              <a:t>Free energy (delta G):  </a:t>
            </a:r>
            <a:r>
              <a:rPr sz="1500" b="0">
                <a:solidFill>
                  <a:srgbClr val="000000"/>
                </a:solidFill>
                <a:latin typeface="Arial"/>
              </a:rPr>
              <a:t>R-squared about 0.46 plus or minus 0.01; the 0.473 was a selected maximum of a model search.</a:t>
            </a:r>
          </a:p>
          <a:p>
            <a:pPr algn="l">
              <a:spcAft>
                <a:spcPts val="1300"/>
              </a:spcAft>
            </a:pPr>
            <a:r>
              <a:rPr sz="1500" b="1">
                <a:solidFill>
                  <a:srgbClr val="000000"/>
                </a:solidFill>
                <a:latin typeface="Arial"/>
              </a:rPr>
              <a:t>Confidence:  </a:t>
            </a:r>
            <a:r>
              <a:rPr sz="1500" b="0">
                <a:solidFill>
                  <a:srgbClr val="000000"/>
                </a:solidFill>
                <a:latin typeface="Arial"/>
              </a:rPr>
              <a:t>the 90 percent intervals are calibrated (they cover 90 percent); the most-confident-slice figures are operating points, not overall accuracy.</a:t>
            </a:r>
          </a:p>
          <a:p>
            <a:pPr algn="l">
              <a:spcAft>
                <a:spcPts val="1300"/>
              </a:spcAft>
            </a:pPr>
            <a:r>
              <a:rPr sz="1500" b="1">
                <a:solidFill>
                  <a:srgbClr val="000000"/>
                </a:solidFill>
                <a:latin typeface="Arial"/>
              </a:rPr>
              <a:t>Versus Dr. Zhang:  </a:t>
            </a:r>
            <a:r>
              <a:rPr sz="1500" b="0">
                <a:solidFill>
                  <a:srgbClr val="000000"/>
                </a:solidFill>
                <a:latin typeface="Arial"/>
              </a:rPr>
              <a:t>about equal on the same data and split (0.657 vs 0.648); the split, not the model, drives his 0.72 headline.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good picks or mid?</a:t>
            </a:r>
          </a:p>
        </p:txBody>
      </p:sp>
      <p:pic>
        <p:nvPicPr>
          <p:cNvPr id="3" name="Picture 2" descr="active_analysis_trends.png"/>
          <p:cNvPicPr>
            <a:picLocks noChangeAspect="1"/>
          </p:cNvPicPr>
          <p:nvPr/>
        </p:nvPicPr>
        <p:blipFill>
          <a:blip r:embed="rId2"/>
          <a:stretch>
            <a:fillRect/>
          </a:stretch>
        </p:blipFill>
        <p:spPr>
          <a:xfrm>
            <a:off x="3051443" y="1417320"/>
            <a:ext cx="6088808" cy="420624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Greedy selection puts 81 percent of its top picks in the strongest tertile (vs 37 percent random) and beats each metal's average, but it captures only about 62 percent of the achievable strength and about 57 percent of its top-decile picks miss the true elite. Its confident picks are the trustworthy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the chosen extractants share</a:t>
            </a:r>
          </a:p>
        </p:txBody>
      </p:sp>
      <p:pic>
        <p:nvPicPr>
          <p:cNvPr id="3" name="Picture 2" descr="picks_trends.png"/>
          <p:cNvPicPr>
            <a:picLocks noChangeAspect="1"/>
          </p:cNvPicPr>
          <p:nvPr/>
        </p:nvPicPr>
        <p:blipFill>
          <a:blip r:embed="rId2"/>
          <a:stretch>
            <a:fillRect/>
          </a:stretch>
        </p:blipFill>
        <p:spPr>
          <a:xfrm>
            <a:off x="1081687" y="1737360"/>
            <a:ext cx="10028321" cy="3657600"/>
          </a:xfrm>
          <a:prstGeom prst="rect">
            <a:avLst/>
          </a:prstGeom>
        </p:spPr>
      </p:pic>
      <p:sp>
        <p:nvSpPr>
          <p:cNvPr id="4" name="TextBox 3"/>
          <p:cNvSpPr txBox="1"/>
          <p:nvPr/>
        </p:nvSpPr>
        <p:spPr>
          <a:xfrm>
            <a:off x="640080" y="555955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picks concentrate on americium and the trivalent lanthanides and actinides (americium 2.85x over-represented, 30 percent of picks), and lean toward less-aromatic, more aliphatic extractants, consistent with classic organophosphorus f-element extractants. Effect sizes are modest.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