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2468880"/>
            <a:ext cx="10972800" cy="2011680"/>
          </a:xfrm>
          <a:prstGeom prst="rect">
            <a:avLst/>
          </a:prstGeom>
          <a:noFill/>
        </p:spPr>
        <p:txBody>
          <a:bodyPr wrap="square" lIns="0" rIns="0" tIns="0" bIns="0">
            <a:spAutoFit/>
          </a:bodyPr>
          <a:lstStyle/>
          <a:p>
            <a:pPr algn="l">
              <a:spcAft>
                <a:spcPts val="600"/>
              </a:spcAft>
            </a:pPr>
            <a:r>
              <a:rPr sz="3800" b="1" i="0">
                <a:solidFill>
                  <a:srgbClr val="000000"/>
                </a:solidFill>
                <a:latin typeface="Arial"/>
              </a:rPr>
              <a:t>Predicting logD for Rare-Earth Solvent Extraction</a:t>
            </a:r>
          </a:p>
          <a:p>
            <a:pPr algn="l">
              <a:spcAft>
                <a:spcPts val="600"/>
              </a:spcAft>
            </a:pPr>
            <a:r>
              <a:rPr sz="1700" b="0" i="0">
                <a:solidFill>
                  <a:srgbClr val="000000"/>
                </a:solidFill>
                <a:latin typeface="Arial"/>
              </a:rPr>
              <a:t>Using LLM-assisted coding to predict logD and judge how well an extractant separates two f-elements, with calibrated confidence and a comparison with Dr. Zhang's model</a:t>
            </a:r>
          </a:p>
        </p:txBody>
      </p:sp>
      <p:sp>
        <p:nvSpPr>
          <p:cNvPr id="3" name="TextBox 2"/>
          <p:cNvSpPr txBox="1"/>
          <p:nvPr/>
        </p:nvSpPr>
        <p:spPr>
          <a:xfrm>
            <a:off x="640080" y="4663440"/>
            <a:ext cx="10972800" cy="457200"/>
          </a:xfrm>
          <a:prstGeom prst="rect">
            <a:avLst/>
          </a:prstGeom>
          <a:noFill/>
        </p:spPr>
        <p:txBody>
          <a:bodyPr wrap="square" lIns="0" rIns="0" tIns="0" bIns="0">
            <a:spAutoFit/>
          </a:bodyPr>
          <a:lstStyle/>
          <a:p>
            <a:pPr algn="l">
              <a:spcAft>
                <a:spcPts val="600"/>
              </a:spcAft>
            </a:pPr>
            <a:r>
              <a:rPr sz="1400" b="0" i="0">
                <a:solidFill>
                  <a:srgbClr val="000000"/>
                </a:solidFill>
                <a:latin typeface="Arial"/>
              </a:rPr>
              <a:t>Skyler Epstein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Dataset</a:t>
            </a:r>
          </a:p>
        </p:txBody>
      </p:sp>
      <p:sp>
        <p:nvSpPr>
          <p:cNvPr id="3" name="TextBox 2"/>
          <p:cNvSpPr txBox="1"/>
          <p:nvPr/>
        </p:nvSpPr>
        <p:spPr>
          <a:xfrm>
            <a:off x="640080" y="1371600"/>
            <a:ext cx="10972800" cy="1554480"/>
          </a:xfrm>
          <a:prstGeom prst="rect">
            <a:avLst/>
          </a:prstGeom>
          <a:noFill/>
        </p:spPr>
        <p:txBody>
          <a:bodyPr wrap="square" lIns="0" rIns="0" tIns="0" bIns="0">
            <a:spAutoFit/>
          </a:bodyPr>
          <a:lstStyle/>
          <a:p>
            <a:pPr algn="l">
              <a:spcAft>
                <a:spcPts val="600"/>
              </a:spcAft>
            </a:pPr>
            <a:r>
              <a:rPr sz="1600" b="0" i="0">
                <a:solidFill>
                  <a:srgbClr val="000000"/>
                </a:solidFill>
                <a:latin typeface="Arial"/>
              </a:rPr>
              <a:t>The goal is to predict how well an extractant separates two f-elements, with logD (the log of the distribution coefficient, D) as the target. The inputs are molecular descriptors, the SMILES string, molecular fingerprints, and environmental factors such as pH and temperature.</a:t>
            </a:r>
          </a:p>
        </p:txBody>
      </p:sp>
      <p:sp>
        <p:nvSpPr>
          <p:cNvPr id="4" name="TextBox 3"/>
          <p:cNvSpPr txBox="1"/>
          <p:nvPr/>
        </p:nvSpPr>
        <p:spPr>
          <a:xfrm>
            <a:off x="640080" y="3108960"/>
            <a:ext cx="2743200" cy="1463040"/>
          </a:xfrm>
          <a:prstGeom prst="rect">
            <a:avLst/>
          </a:prstGeom>
          <a:noFill/>
        </p:spPr>
        <p:txBody>
          <a:bodyPr wrap="square" lIns="0" rIns="0" tIns="0" bIns="0">
            <a:spAutoFit/>
          </a:bodyPr>
          <a:lstStyle/>
          <a:p>
            <a:pPr algn="l">
              <a:spcAft>
                <a:spcPts val="600"/>
              </a:spcAft>
            </a:pPr>
            <a:r>
              <a:rPr sz="4400" b="1" i="0">
                <a:solidFill>
                  <a:srgbClr val="000000"/>
                </a:solidFill>
                <a:latin typeface="Arial"/>
              </a:rPr>
              <a:t>8,075</a:t>
            </a:r>
          </a:p>
          <a:p>
            <a:pPr algn="l">
              <a:spcAft>
                <a:spcPts val="600"/>
              </a:spcAft>
            </a:pPr>
            <a:r>
              <a:rPr sz="1400" b="0" i="0">
                <a:solidFill>
                  <a:srgbClr val="404040"/>
                </a:solidFill>
                <a:latin typeface="Arial"/>
              </a:rPr>
              <a:t>measurements</a:t>
            </a:r>
          </a:p>
        </p:txBody>
      </p:sp>
      <p:sp>
        <p:nvSpPr>
          <p:cNvPr id="5" name="TextBox 4"/>
          <p:cNvSpPr txBox="1"/>
          <p:nvPr/>
        </p:nvSpPr>
        <p:spPr>
          <a:xfrm>
            <a:off x="3429000" y="3108960"/>
            <a:ext cx="2743200" cy="1463040"/>
          </a:xfrm>
          <a:prstGeom prst="rect">
            <a:avLst/>
          </a:prstGeom>
          <a:noFill/>
        </p:spPr>
        <p:txBody>
          <a:bodyPr wrap="square" lIns="0" rIns="0" tIns="0" bIns="0">
            <a:spAutoFit/>
          </a:bodyPr>
          <a:lstStyle/>
          <a:p>
            <a:pPr algn="l">
              <a:spcAft>
                <a:spcPts val="600"/>
              </a:spcAft>
            </a:pPr>
            <a:r>
              <a:rPr sz="4400" b="1" i="0">
                <a:solidFill>
                  <a:srgbClr val="000000"/>
                </a:solidFill>
                <a:latin typeface="Arial"/>
              </a:rPr>
              <a:t>295</a:t>
            </a:r>
          </a:p>
          <a:p>
            <a:pPr algn="l">
              <a:spcAft>
                <a:spcPts val="600"/>
              </a:spcAft>
            </a:pPr>
            <a:r>
              <a:rPr sz="1400" b="0" i="0">
                <a:solidFill>
                  <a:srgbClr val="404040"/>
                </a:solidFill>
                <a:latin typeface="Arial"/>
              </a:rPr>
              <a:t>distinct extractants</a:t>
            </a:r>
          </a:p>
        </p:txBody>
      </p:sp>
      <p:sp>
        <p:nvSpPr>
          <p:cNvPr id="6" name="TextBox 5"/>
          <p:cNvSpPr txBox="1"/>
          <p:nvPr/>
        </p:nvSpPr>
        <p:spPr>
          <a:xfrm>
            <a:off x="6217920" y="3108960"/>
            <a:ext cx="2743200" cy="1463040"/>
          </a:xfrm>
          <a:prstGeom prst="rect">
            <a:avLst/>
          </a:prstGeom>
          <a:noFill/>
        </p:spPr>
        <p:txBody>
          <a:bodyPr wrap="square" lIns="0" rIns="0" tIns="0" bIns="0">
            <a:spAutoFit/>
          </a:bodyPr>
          <a:lstStyle/>
          <a:p>
            <a:pPr algn="l">
              <a:spcAft>
                <a:spcPts val="600"/>
              </a:spcAft>
            </a:pPr>
            <a:r>
              <a:rPr sz="4400" b="1" i="0">
                <a:solidFill>
                  <a:srgbClr val="000000"/>
                </a:solidFill>
                <a:latin typeface="Arial"/>
              </a:rPr>
              <a:t>28</a:t>
            </a:r>
          </a:p>
          <a:p>
            <a:pPr algn="l">
              <a:spcAft>
                <a:spcPts val="600"/>
              </a:spcAft>
            </a:pPr>
            <a:r>
              <a:rPr sz="1400" b="0" i="0">
                <a:solidFill>
                  <a:srgbClr val="404040"/>
                </a:solidFill>
                <a:latin typeface="Arial"/>
              </a:rPr>
              <a:t>f-element metals</a:t>
            </a:r>
          </a:p>
        </p:txBody>
      </p:sp>
      <p:sp>
        <p:nvSpPr>
          <p:cNvPr id="7" name="TextBox 6"/>
          <p:cNvSpPr txBox="1"/>
          <p:nvPr/>
        </p:nvSpPr>
        <p:spPr>
          <a:xfrm>
            <a:off x="9006840" y="3108960"/>
            <a:ext cx="2743200" cy="1463040"/>
          </a:xfrm>
          <a:prstGeom prst="rect">
            <a:avLst/>
          </a:prstGeom>
          <a:noFill/>
        </p:spPr>
        <p:txBody>
          <a:bodyPr wrap="square" lIns="0" rIns="0" tIns="0" bIns="0">
            <a:spAutoFit/>
          </a:bodyPr>
          <a:lstStyle/>
          <a:p>
            <a:pPr algn="l">
              <a:spcAft>
                <a:spcPts val="600"/>
              </a:spcAft>
            </a:pPr>
            <a:r>
              <a:rPr sz="4400" b="1" i="0">
                <a:solidFill>
                  <a:srgbClr val="000000"/>
                </a:solidFill>
                <a:latin typeface="Arial"/>
              </a:rPr>
              <a:t>~17.5</a:t>
            </a:r>
          </a:p>
          <a:p>
            <a:pPr algn="l">
              <a:spcAft>
                <a:spcPts val="600"/>
              </a:spcAft>
            </a:pPr>
            <a:r>
              <a:rPr sz="1400" b="0" i="0">
                <a:solidFill>
                  <a:srgbClr val="404040"/>
                </a:solidFill>
                <a:latin typeface="Arial"/>
              </a:rPr>
              <a:t>log-unit range of logD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Two prediction tasks</a:t>
            </a:r>
          </a:p>
        </p:txBody>
      </p:sp>
      <p:sp>
        <p:nvSpPr>
          <p:cNvPr id="3" name="TextBox 2"/>
          <p:cNvSpPr txBox="1"/>
          <p:nvPr/>
        </p:nvSpPr>
        <p:spPr>
          <a:xfrm>
            <a:off x="640080" y="1371600"/>
            <a:ext cx="10972800" cy="731520"/>
          </a:xfrm>
          <a:prstGeom prst="rect">
            <a:avLst/>
          </a:prstGeom>
          <a:noFill/>
        </p:spPr>
        <p:txBody>
          <a:bodyPr wrap="square" lIns="0" rIns="0" tIns="0" bIns="0">
            <a:spAutoFit/>
          </a:bodyPr>
          <a:lstStyle/>
          <a:p>
            <a:pPr algn="l">
              <a:spcAft>
                <a:spcPts val="600"/>
              </a:spcAft>
            </a:pPr>
            <a:r>
              <a:rPr sz="1600" b="0" i="0">
                <a:solidFill>
                  <a:srgbClr val="000000"/>
                </a:solidFill>
                <a:latin typeface="Arial"/>
              </a:rPr>
              <a:t>The tasks are kept apart so a molecule cannot leak across training and testing, which would inflate the score.</a:t>
            </a:r>
          </a:p>
        </p:txBody>
      </p:sp>
      <p:sp>
        <p:nvSpPr>
          <p:cNvPr id="4" name="TextBox 3"/>
          <p:cNvSpPr txBox="1"/>
          <p:nvPr/>
        </p:nvSpPr>
        <p:spPr>
          <a:xfrm>
            <a:off x="640080" y="2377440"/>
            <a:ext cx="5303520" cy="3108960"/>
          </a:xfrm>
          <a:prstGeom prst="rect">
            <a:avLst/>
          </a:prstGeom>
          <a:noFill/>
        </p:spPr>
        <p:txBody>
          <a:bodyPr wrap="square" lIns="0" rIns="0" tIns="0" bIns="0">
            <a:spAutoFit/>
          </a:bodyPr>
          <a:lstStyle/>
          <a:p>
            <a:pPr algn="l">
              <a:spcAft>
                <a:spcPts val="600"/>
              </a:spcAft>
            </a:pPr>
            <a:r>
              <a:rPr sz="1900" b="1" i="0">
                <a:solidFill>
                  <a:srgbClr val="000000"/>
                </a:solidFill>
                <a:latin typeface="Arial"/>
              </a:rPr>
              <a:t>Track A: screen a new molecule</a:t>
            </a:r>
          </a:p>
          <a:p>
            <a:pPr algn="l">
              <a:spcAft>
                <a:spcPts val="1200"/>
              </a:spcAft>
            </a:pPr>
            <a:r>
              <a:rPr sz="1300" b="0" i="1">
                <a:solidFill>
                  <a:srgbClr val="404040"/>
                </a:solidFill>
                <a:latin typeface="Arial"/>
              </a:rPr>
              <a:t>molecule-grouped cross-validation</a:t>
            </a:r>
          </a:p>
          <a:p>
            <a:pPr algn="l">
              <a:spcAft>
                <a:spcPts val="800"/>
              </a:spcAft>
            </a:pPr>
            <a:r>
              <a:rPr sz="1800" b="1" i="0">
                <a:solidFill>
                  <a:srgbClr val="000000"/>
                </a:solidFill>
                <a:latin typeface="Arial"/>
              </a:rPr>
              <a:t>R-squared 0.466     RMSE 1.148</a:t>
            </a:r>
          </a:p>
          <a:p>
            <a:pPr algn="l">
              <a:spcAft>
                <a:spcPts val="600"/>
              </a:spcAft>
            </a:pPr>
            <a:r>
              <a:rPr sz="1500" b="0" i="0">
                <a:solidFill>
                  <a:srgbClr val="000000"/>
                </a:solidFill>
                <a:latin typeface="Arial"/>
              </a:rPr>
              <a:t>Most confident 10 percent: R-squared 0.912, RMSE 0.493</a:t>
            </a:r>
          </a:p>
        </p:txBody>
      </p:sp>
      <p:sp>
        <p:nvSpPr>
          <p:cNvPr id="5" name="TextBox 4"/>
          <p:cNvSpPr txBox="1"/>
          <p:nvPr/>
        </p:nvSpPr>
        <p:spPr>
          <a:xfrm>
            <a:off x="6400800" y="2377440"/>
            <a:ext cx="5303520" cy="3108960"/>
          </a:xfrm>
          <a:prstGeom prst="rect">
            <a:avLst/>
          </a:prstGeom>
          <a:noFill/>
        </p:spPr>
        <p:txBody>
          <a:bodyPr wrap="square" lIns="0" rIns="0" tIns="0" bIns="0">
            <a:spAutoFit/>
          </a:bodyPr>
          <a:lstStyle/>
          <a:p>
            <a:pPr algn="l">
              <a:spcAft>
                <a:spcPts val="600"/>
              </a:spcAft>
            </a:pPr>
            <a:r>
              <a:rPr sz="1900" b="1" i="0">
                <a:solidFill>
                  <a:srgbClr val="000000"/>
                </a:solidFill>
                <a:latin typeface="Arial"/>
              </a:rPr>
              <a:t>Track B: optimize conditions</a:t>
            </a:r>
          </a:p>
          <a:p>
            <a:pPr algn="l">
              <a:spcAft>
                <a:spcPts val="1200"/>
              </a:spcAft>
            </a:pPr>
            <a:r>
              <a:rPr sz="1300" b="0" i="1">
                <a:solidFill>
                  <a:srgbClr val="404040"/>
                </a:solidFill>
                <a:latin typeface="Arial"/>
              </a:rPr>
              <a:t>random-row cross-validation</a:t>
            </a:r>
          </a:p>
          <a:p>
            <a:pPr algn="l">
              <a:spcAft>
                <a:spcPts val="800"/>
              </a:spcAft>
            </a:pPr>
            <a:r>
              <a:rPr sz="1800" b="1" i="0">
                <a:solidFill>
                  <a:srgbClr val="000000"/>
                </a:solidFill>
                <a:latin typeface="Arial"/>
              </a:rPr>
              <a:t>R-squared 0.725     RMSE 0.823</a:t>
            </a:r>
          </a:p>
          <a:p>
            <a:pPr algn="l">
              <a:spcAft>
                <a:spcPts val="600"/>
              </a:spcAft>
            </a:pPr>
            <a:r>
              <a:rPr sz="1500" b="0" i="0">
                <a:solidFill>
                  <a:srgbClr val="000000"/>
                </a:solidFill>
                <a:latin typeface="Arial"/>
              </a:rPr>
              <a:t>Most confident 10 percent: R-squared 0.940, RMSE 0.341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Definitions</a:t>
            </a:r>
          </a:p>
        </p:txBody>
      </p:sp>
      <p:sp>
        <p:nvSpPr>
          <p:cNvPr id="3" name="TextBox 2"/>
          <p:cNvSpPr txBox="1"/>
          <p:nvPr/>
        </p:nvSpPr>
        <p:spPr>
          <a:xfrm>
            <a:off x="640080" y="1463040"/>
            <a:ext cx="10972800" cy="4937760"/>
          </a:xfrm>
          <a:prstGeom prst="rect">
            <a:avLst/>
          </a:prstGeom>
          <a:noFill/>
        </p:spPr>
        <p:txBody>
          <a:bodyPr wrap="square" lIns="0" rIns="0" tIns="0" bIns="0">
            <a:spAutoFit/>
          </a:bodyPr>
          <a:lstStyle/>
          <a:p>
            <a:pPr algn="l">
              <a:spcAft>
                <a:spcPts val="1300"/>
              </a:spcAft>
            </a:pPr>
            <a:r>
              <a:rPr sz="1600" b="1">
                <a:solidFill>
                  <a:srgbClr val="000000"/>
                </a:solidFill>
                <a:latin typeface="Arial"/>
              </a:rPr>
              <a:t>Confidence score:  </a:t>
            </a:r>
            <a:r>
              <a:rPr sz="1600" b="0">
                <a:solidFill>
                  <a:srgbClr val="000000"/>
                </a:solidFill>
                <a:latin typeface="Arial"/>
              </a:rPr>
              <a:t>a second model estimates how far off each prediction is likely to be, so a small estimated error means high confidence.</a:t>
            </a:r>
          </a:p>
          <a:p>
            <a:pPr algn="l">
              <a:spcAft>
                <a:spcPts val="1300"/>
              </a:spcAft>
            </a:pPr>
            <a:r>
              <a:rPr sz="1600" b="1">
                <a:solidFill>
                  <a:srgbClr val="000000"/>
                </a:solidFill>
                <a:latin typeface="Arial"/>
              </a:rPr>
              <a:t>Most confident 10 percent (or 25, or 50):  </a:t>
            </a:r>
            <a:r>
              <a:rPr sz="1600" b="0">
                <a:solidFill>
                  <a:srgbClr val="000000"/>
                </a:solidFill>
                <a:latin typeface="Arial"/>
              </a:rPr>
              <a:t>the fraction of predictions with the smallest estimated error. Keeping only those gives much higher accuracy.</a:t>
            </a:r>
          </a:p>
          <a:p>
            <a:pPr algn="l">
              <a:spcAft>
                <a:spcPts val="1300"/>
              </a:spcAft>
            </a:pPr>
            <a:r>
              <a:rPr sz="1600" b="1">
                <a:solidFill>
                  <a:srgbClr val="000000"/>
                </a:solidFill>
                <a:latin typeface="Arial"/>
              </a:rPr>
              <a:t>Uncertainty interval:  </a:t>
            </a:r>
            <a:r>
              <a:rPr sz="1600" b="0">
                <a:solidFill>
                  <a:srgbClr val="000000"/>
                </a:solidFill>
                <a:latin typeface="Arial"/>
              </a:rPr>
              <a:t>instead of a single number, the model returns a range of logD values for each prediction.</a:t>
            </a:r>
          </a:p>
          <a:p>
            <a:pPr algn="l">
              <a:spcAft>
                <a:spcPts val="1300"/>
              </a:spcAft>
            </a:pPr>
            <a:r>
              <a:rPr sz="1600" b="1">
                <a:solidFill>
                  <a:srgbClr val="000000"/>
                </a:solidFill>
                <a:latin typeface="Arial"/>
              </a:rPr>
              <a:t>90 percent interval:  </a:t>
            </a:r>
            <a:r>
              <a:rPr sz="1600" b="0">
                <a:solidFill>
                  <a:srgbClr val="000000"/>
                </a:solidFill>
                <a:latin typeface="Arial"/>
              </a:rPr>
              <a:t>a range built to contain the true logD about 90 percent of the time. An 80 percent interval is narrower and contains it about 80 percent of the time.</a:t>
            </a:r>
          </a:p>
          <a:p>
            <a:pPr algn="l">
              <a:spcAft>
                <a:spcPts val="1300"/>
              </a:spcAft>
            </a:pPr>
            <a:r>
              <a:rPr sz="1600" b="1">
                <a:solidFill>
                  <a:srgbClr val="000000"/>
                </a:solidFill>
                <a:latin typeface="Arial"/>
              </a:rPr>
              <a:t>Coverage:  </a:t>
            </a:r>
            <a:r>
              <a:rPr sz="1600" b="0">
                <a:solidFill>
                  <a:srgbClr val="000000"/>
                </a:solidFill>
                <a:latin typeface="Arial"/>
              </a:rPr>
              <a:t>the fraction of points whose true value actually lands inside the interval. We measured 0.89 to 0.90 against the 90 percent target, so the ranges are honest.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What a 90 percent interval means</a:t>
            </a:r>
          </a:p>
        </p:txBody>
      </p:sp>
      <p:sp>
        <p:nvSpPr>
          <p:cNvPr id="3" name="TextBox 2"/>
          <p:cNvSpPr txBox="1"/>
          <p:nvPr/>
        </p:nvSpPr>
        <p:spPr>
          <a:xfrm>
            <a:off x="640080" y="1280160"/>
            <a:ext cx="10972800" cy="1783080"/>
          </a:xfrm>
          <a:prstGeom prst="rect">
            <a:avLst/>
          </a:prstGeom>
          <a:noFill/>
        </p:spPr>
        <p:txBody>
          <a:bodyPr wrap="square" lIns="0" rIns="0" tIns="0" bIns="0">
            <a:spAutoFit/>
          </a:bodyPr>
          <a:lstStyle/>
          <a:p>
            <a:pPr algn="l">
              <a:spcAft>
                <a:spcPts val="800"/>
              </a:spcAft>
            </a:pPr>
            <a:r>
              <a:rPr sz="1500" b="0" i="0">
                <a:solidFill>
                  <a:srgbClr val="000000"/>
                </a:solidFill>
                <a:latin typeface="Arial"/>
              </a:rPr>
              <a:t>The model gives a range, not just a single number. For example, it might predict a logD of 1.5 and report that it is 90 percent sure the true value is between 0.6 and 2.4. Across many predictions, each with its own 90 percent range, the true value should land inside about 90 times out of 100, while an 80 percent range is narrower and contains it about 80 times out of 100.</a:t>
            </a:r>
          </a:p>
          <a:p>
            <a:pPr algn="l">
              <a:spcAft>
                <a:spcPts val="600"/>
              </a:spcAft>
            </a:pPr>
            <a:r>
              <a:rPr sz="1500" b="0" i="0">
                <a:solidFill>
                  <a:srgbClr val="000000"/>
                </a:solidFill>
                <a:latin typeface="Arial"/>
              </a:rPr>
              <a:t>Coverage is how often this actually happens. Checking every range against the real value, the true logD landed inside the 90 percent range 89 to 90 percent of the time, right on target, which is what it means to say the ranges are honest.</a:t>
            </a:r>
          </a:p>
        </p:txBody>
      </p:sp>
      <p:pic>
        <p:nvPicPr>
          <p:cNvPr id="4" name="Picture 3" descr="coverage_illustration.png"/>
          <p:cNvPicPr>
            <a:picLocks noChangeAspect="1"/>
          </p:cNvPicPr>
          <p:nvPr/>
        </p:nvPicPr>
        <p:blipFill>
          <a:blip r:embed="rId2"/>
          <a:stretch>
            <a:fillRect/>
          </a:stretch>
        </p:blipFill>
        <p:spPr>
          <a:xfrm>
            <a:off x="3219269" y="3154680"/>
            <a:ext cx="5753155" cy="3429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Accuracy versus confidence, Track A</a:t>
            </a:r>
          </a:p>
        </p:txBody>
      </p:sp>
      <p:pic>
        <p:nvPicPr>
          <p:cNvPr id="3" name="Picture 2" descr="confidence_curve_a.png"/>
          <p:cNvPicPr>
            <a:picLocks noChangeAspect="1"/>
          </p:cNvPicPr>
          <p:nvPr/>
        </p:nvPicPr>
        <p:blipFill>
          <a:blip r:embed="rId2"/>
          <a:stretch>
            <a:fillRect/>
          </a:stretch>
        </p:blipFill>
        <p:spPr>
          <a:xfrm>
            <a:off x="792327" y="1508760"/>
            <a:ext cx="10607040" cy="3787693"/>
          </a:xfrm>
          <a:prstGeom prst="rect">
            <a:avLst/>
          </a:prstGeom>
        </p:spPr>
      </p:pic>
      <p:sp>
        <p:nvSpPr>
          <p:cNvPr id="4" name="TextBox 3"/>
          <p:cNvSpPr txBox="1"/>
          <p:nvPr/>
        </p:nvSpPr>
        <p:spPr>
          <a:xfrm>
            <a:off x="640080" y="5442757"/>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Moving right to left keeps fewer but more confident predictions. The most confident tenth (the tenth with the smallest estimated error) reaches R-squared 0.912 and RMSE 0.493, against 0.466 and 1.148 over all predictions.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Accuracy versus confidence, Track B</a:t>
            </a:r>
          </a:p>
        </p:txBody>
      </p:sp>
      <p:pic>
        <p:nvPicPr>
          <p:cNvPr id="3" name="Picture 2" descr="confidence_curve_b.png"/>
          <p:cNvPicPr>
            <a:picLocks noChangeAspect="1"/>
          </p:cNvPicPr>
          <p:nvPr/>
        </p:nvPicPr>
        <p:blipFill>
          <a:blip r:embed="rId2"/>
          <a:stretch>
            <a:fillRect/>
          </a:stretch>
        </p:blipFill>
        <p:spPr>
          <a:xfrm>
            <a:off x="792327" y="1508760"/>
            <a:ext cx="10607040" cy="3787693"/>
          </a:xfrm>
          <a:prstGeom prst="rect">
            <a:avLst/>
          </a:prstGeom>
        </p:spPr>
      </p:pic>
      <p:sp>
        <p:nvSpPr>
          <p:cNvPr id="4" name="TextBox 3"/>
          <p:cNvSpPr txBox="1"/>
          <p:nvPr/>
        </p:nvSpPr>
        <p:spPr>
          <a:xfrm>
            <a:off x="640080" y="5442757"/>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The same pattern holds for condition optimization: the most confident tenth reaches R-squared 0.940 and RMSE 0.341, against 0.725 and 0.823 over all predictions.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Predicted versus actual logD</a:t>
            </a:r>
          </a:p>
        </p:txBody>
      </p:sp>
      <p:pic>
        <p:nvPicPr>
          <p:cNvPr id="3" name="Picture 2" descr="pred_vs_actual_a.png"/>
          <p:cNvPicPr>
            <a:picLocks noChangeAspect="1"/>
          </p:cNvPicPr>
          <p:nvPr/>
        </p:nvPicPr>
        <p:blipFill>
          <a:blip r:embed="rId2"/>
          <a:stretch>
            <a:fillRect/>
          </a:stretch>
        </p:blipFill>
        <p:spPr>
          <a:xfrm>
            <a:off x="1097280" y="1600200"/>
            <a:ext cx="4722725" cy="4297680"/>
          </a:xfrm>
          <a:prstGeom prst="rect">
            <a:avLst/>
          </a:prstGeom>
        </p:spPr>
      </p:pic>
      <p:pic>
        <p:nvPicPr>
          <p:cNvPr id="4" name="Picture 3" descr="pred_vs_actual_b.png"/>
          <p:cNvPicPr>
            <a:picLocks noChangeAspect="1"/>
          </p:cNvPicPr>
          <p:nvPr/>
        </p:nvPicPr>
        <p:blipFill>
          <a:blip r:embed="rId3"/>
          <a:stretch>
            <a:fillRect/>
          </a:stretch>
        </p:blipFill>
        <p:spPr>
          <a:xfrm>
            <a:off x="6309360" y="1600200"/>
            <a:ext cx="4796939" cy="4297680"/>
          </a:xfrm>
          <a:prstGeom prst="rect">
            <a:avLst/>
          </a:prstGeom>
        </p:spPr>
      </p:pic>
      <p:sp>
        <p:nvSpPr>
          <p:cNvPr id="5" name="TextBox 4"/>
          <p:cNvSpPr txBox="1"/>
          <p:nvPr/>
        </p:nvSpPr>
        <p:spPr>
          <a:xfrm>
            <a:off x="640080" y="6080760"/>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Left: Track A, new molecules. Right: Track B, known molecules. Each point is a prediction; darker points are the more confident ones and lie closer to the diagonal, where predicted equals actual.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Accuracy by metal</a:t>
            </a:r>
          </a:p>
        </p:txBody>
      </p:sp>
      <p:pic>
        <p:nvPicPr>
          <p:cNvPr id="3" name="Picture 2" descr="by_metal_accuracy.png"/>
          <p:cNvPicPr>
            <a:picLocks noChangeAspect="1"/>
          </p:cNvPicPr>
          <p:nvPr/>
        </p:nvPicPr>
        <p:blipFill>
          <a:blip r:embed="rId2"/>
          <a:stretch>
            <a:fillRect/>
          </a:stretch>
        </p:blipFill>
        <p:spPr>
          <a:xfrm>
            <a:off x="1270309" y="1508760"/>
            <a:ext cx="9651076" cy="4114800"/>
          </a:xfrm>
          <a:prstGeom prst="rect">
            <a:avLst/>
          </a:prstGeom>
        </p:spPr>
      </p:pic>
      <p:sp>
        <p:nvSpPr>
          <p:cNvPr id="4" name="TextBox 3"/>
          <p:cNvSpPr txBox="1"/>
          <p:nvPr/>
        </p:nvSpPr>
        <p:spPr>
          <a:xfrm>
            <a:off x="640080" y="5769864"/>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Accuracy is not uniform. It is highest on Americium and Curium and lowest on Neptunium(V), Erbium, and Uranium(VI), so a single overall number hides large differences between metals.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Confidence by metal</a:t>
            </a:r>
          </a:p>
        </p:txBody>
      </p:sp>
      <p:pic>
        <p:nvPicPr>
          <p:cNvPr id="3" name="Picture 2" descr="confidence_per_metal.png"/>
          <p:cNvPicPr>
            <a:picLocks noChangeAspect="1"/>
          </p:cNvPicPr>
          <p:nvPr/>
        </p:nvPicPr>
        <p:blipFill>
          <a:blip r:embed="rId2"/>
          <a:stretch>
            <a:fillRect/>
          </a:stretch>
        </p:blipFill>
        <p:spPr>
          <a:xfrm>
            <a:off x="2308061" y="1508760"/>
            <a:ext cx="7575571" cy="4297680"/>
          </a:xfrm>
          <a:prstGeom prst="rect">
            <a:avLst/>
          </a:prstGeom>
        </p:spPr>
      </p:pic>
      <p:sp>
        <p:nvSpPr>
          <p:cNvPr id="4" name="TextBox 3"/>
          <p:cNvSpPr txBox="1"/>
          <p:nvPr/>
        </p:nvSpPr>
        <p:spPr>
          <a:xfrm>
            <a:off x="640080" y="5952744"/>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Each bar is the model's median estimated error for a metal, which is its confidence signal, so a shorter bar means it is more sure. The model is most confident on Americium and Curium and least confident on Neptunium(V), Uranium(VI), and Erbium.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Confidence versus error, by metal</a:t>
            </a:r>
          </a:p>
        </p:txBody>
      </p:sp>
      <p:pic>
        <p:nvPicPr>
          <p:cNvPr id="3" name="Picture 2" descr="by_metal_confidence_vs_error.png"/>
          <p:cNvPicPr>
            <a:picLocks noChangeAspect="1"/>
          </p:cNvPicPr>
          <p:nvPr/>
        </p:nvPicPr>
        <p:blipFill>
          <a:blip r:embed="rId2"/>
          <a:stretch>
            <a:fillRect/>
          </a:stretch>
        </p:blipFill>
        <p:spPr>
          <a:xfrm>
            <a:off x="3267777" y="1508760"/>
            <a:ext cx="5656139" cy="3931920"/>
          </a:xfrm>
          <a:prstGeom prst="rect">
            <a:avLst/>
          </a:prstGeom>
        </p:spPr>
      </p:pic>
      <p:sp>
        <p:nvSpPr>
          <p:cNvPr id="4" name="TextBox 3"/>
          <p:cNvSpPr txBox="1"/>
          <p:nvPr/>
        </p:nvSpPr>
        <p:spPr>
          <a:xfrm>
            <a:off x="640080" y="5586983"/>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The horizontal axis is the model's estimated error and the vertical axis is the actual error. They line up, so Americium and Curium sit low on both while Neptunium(V), Uranium(VI), and Erbium sit high on both, which is what lets the model flag the metals it cannot predict well.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Separation between metal pairs</a:t>
            </a:r>
          </a:p>
        </p:txBody>
      </p:sp>
      <p:pic>
        <p:nvPicPr>
          <p:cNvPr id="3" name="Picture 2" descr="by_metal_pair_separation.png"/>
          <p:cNvPicPr>
            <a:picLocks noChangeAspect="1"/>
          </p:cNvPicPr>
          <p:nvPr/>
        </p:nvPicPr>
        <p:blipFill>
          <a:blip r:embed="rId2"/>
          <a:stretch>
            <a:fillRect/>
          </a:stretch>
        </p:blipFill>
        <p:spPr>
          <a:xfrm>
            <a:off x="900040" y="1508760"/>
            <a:ext cx="10391613" cy="4114800"/>
          </a:xfrm>
          <a:prstGeom prst="rect">
            <a:avLst/>
          </a:prstGeom>
        </p:spPr>
      </p:pic>
      <p:sp>
        <p:nvSpPr>
          <p:cNvPr id="4" name="TextBox 3"/>
          <p:cNvSpPr txBox="1"/>
          <p:nvPr/>
        </p:nvSpPr>
        <p:spPr>
          <a:xfrm>
            <a:off x="640080" y="5769864"/>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A separation is the logD difference between two metals at the same conditions. Pairs far apart in logD such as Dysprosium and Ytterbium are predicted well, while tight adjacent pairs such as Erbium and Terbium are hardest, which is the case that matters most for industry.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Confidence by metal pair</a:t>
            </a:r>
          </a:p>
        </p:txBody>
      </p:sp>
      <p:pic>
        <p:nvPicPr>
          <p:cNvPr id="3" name="Picture 2" descr="by_pair_confidence_vs_error.png"/>
          <p:cNvPicPr>
            <a:picLocks noChangeAspect="1"/>
          </p:cNvPicPr>
          <p:nvPr/>
        </p:nvPicPr>
        <p:blipFill>
          <a:blip r:embed="rId2"/>
          <a:stretch>
            <a:fillRect/>
          </a:stretch>
        </p:blipFill>
        <p:spPr>
          <a:xfrm>
            <a:off x="2728891" y="1508760"/>
            <a:ext cx="6733912" cy="3931920"/>
          </a:xfrm>
          <a:prstGeom prst="rect">
            <a:avLst/>
          </a:prstGeom>
        </p:spPr>
      </p:pic>
      <p:sp>
        <p:nvSpPr>
          <p:cNvPr id="4" name="TextBox 3"/>
          <p:cNvSpPr txBox="1"/>
          <p:nvPr/>
        </p:nvSpPr>
        <p:spPr>
          <a:xfrm>
            <a:off x="640080" y="5586983"/>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Confidence behaves the same way on pairs: the model's estimated error for a pair lines up with the actual separation error, so it is most confident on the easy far-apart pairs and least confident on hard adjacent pairs such as Erbium and Terbium.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Ensemble weights</a:t>
            </a:r>
          </a:p>
        </p:txBody>
      </p:sp>
      <p:pic>
        <p:nvPicPr>
          <p:cNvPr id="3" name="Picture 2" descr="ensemble_weights.png"/>
          <p:cNvPicPr>
            <a:picLocks noChangeAspect="1"/>
          </p:cNvPicPr>
          <p:nvPr/>
        </p:nvPicPr>
        <p:blipFill>
          <a:blip r:embed="rId2"/>
          <a:stretch>
            <a:fillRect/>
          </a:stretch>
        </p:blipFill>
        <p:spPr>
          <a:xfrm>
            <a:off x="792327" y="1508760"/>
            <a:ext cx="10607040" cy="3795179"/>
          </a:xfrm>
          <a:prstGeom prst="rect">
            <a:avLst/>
          </a:prstGeom>
        </p:spPr>
      </p:pic>
      <p:sp>
        <p:nvSpPr>
          <p:cNvPr id="4" name="TextBox 3"/>
          <p:cNvSpPr txBox="1"/>
          <p:nvPr/>
        </p:nvSpPr>
        <p:spPr>
          <a:xfrm>
            <a:off x="640080" y="5450243"/>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Non-negative least squares keeps only the members that help, leaving ExtraTrees, LightGBM, and XGBoost on Track B and dropping the rest to a weight of zero.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Uncertainty intervals</a:t>
            </a:r>
          </a:p>
        </p:txBody>
      </p:sp>
      <p:pic>
        <p:nvPicPr>
          <p:cNvPr id="3" name="Picture 2" descr="conformal_calibration.png"/>
          <p:cNvPicPr>
            <a:picLocks noChangeAspect="1"/>
          </p:cNvPicPr>
          <p:nvPr/>
        </p:nvPicPr>
        <p:blipFill>
          <a:blip r:embed="rId2"/>
          <a:stretch>
            <a:fillRect/>
          </a:stretch>
        </p:blipFill>
        <p:spPr>
          <a:xfrm>
            <a:off x="792327" y="1508760"/>
            <a:ext cx="10607040" cy="3795179"/>
          </a:xfrm>
          <a:prstGeom prst="rect">
            <a:avLst/>
          </a:prstGeom>
        </p:spPr>
      </p:pic>
      <p:sp>
        <p:nvSpPr>
          <p:cNvPr id="4" name="TextBox 3"/>
          <p:cNvSpPr txBox="1"/>
          <p:nvPr/>
        </p:nvSpPr>
        <p:spPr>
          <a:xfrm>
            <a:off x="640080" y="5450243"/>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Each prediction comes with a range. A 90 percent interval is built to contain the true logD about 90 percent of the time, an 80 percent interval about 80 percent. The left bars show the measured coverage (0.89 to 0.90 and 0.79 to 0.80), so the ranges are honest; the right bars show the typical width, narrower on Track B.</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Comparison with Dr. Zhang's model</a:t>
            </a:r>
          </a:p>
        </p:txBody>
      </p:sp>
      <p:sp>
        <p:nvSpPr>
          <p:cNvPr id="3" name="TextBox 2"/>
          <p:cNvSpPr txBox="1"/>
          <p:nvPr/>
        </p:nvSpPr>
        <p:spPr>
          <a:xfrm>
            <a:off x="640080" y="1645920"/>
            <a:ext cx="10972800" cy="3657600"/>
          </a:xfrm>
          <a:prstGeom prst="rect">
            <a:avLst/>
          </a:prstGeom>
          <a:noFill/>
        </p:spPr>
        <p:txBody>
          <a:bodyPr wrap="square" lIns="0" rIns="0" tIns="0" bIns="0">
            <a:spAutoFit/>
          </a:bodyPr>
          <a:lstStyle/>
          <a:p>
            <a:pPr algn="l">
              <a:spcAft>
                <a:spcPts val="1400"/>
              </a:spcAft>
            </a:pPr>
            <a:r>
              <a:rPr sz="1800" b="0" i="0">
                <a:solidFill>
                  <a:srgbClr val="000000"/>
                </a:solidFill>
                <a:latin typeface="Arial"/>
              </a:rPr>
              <a:t>Both projects use the same 8,075-row f-element dataset (295 molecules, 28 metals), so the comparison is fair on the data.</a:t>
            </a:r>
          </a:p>
          <a:p>
            <a:pPr algn="l">
              <a:spcAft>
                <a:spcPts val="1400"/>
              </a:spcAft>
            </a:pPr>
            <a:r>
              <a:rPr sz="1800" b="0" i="0">
                <a:solidFill>
                  <a:srgbClr val="000000"/>
                </a:solidFill>
                <a:latin typeface="Arial"/>
              </a:rPr>
              <a:t>His supervised model is a 3-class XGBoost classifier that reports 72 percent accuracy on one 494-row held-out test, with no way to rank which predictions to trust.</a:t>
            </a:r>
          </a:p>
          <a:p>
            <a:pPr algn="l">
              <a:spcAft>
                <a:spcPts val="600"/>
              </a:spcAft>
            </a:pPr>
            <a:r>
              <a:rPr sz="1800" b="0" i="0">
                <a:solidFill>
                  <a:srgbClr val="000000"/>
                </a:solidFill>
                <a:latin typeface="Arial"/>
              </a:rPr>
              <a:t>Ours predicts the continuous logD value with a confidence score and an uncertainty interval, and it can also be scored as a classifier on his exact task, which the next slides do.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Accuracy by confidence level, versus Zhang</a:t>
            </a:r>
          </a:p>
        </p:txBody>
      </p:sp>
      <p:pic>
        <p:nvPicPr>
          <p:cNvPr id="3" name="Picture 2" descr="zhang_comparison_selective.png"/>
          <p:cNvPicPr>
            <a:picLocks noChangeAspect="1"/>
          </p:cNvPicPr>
          <p:nvPr/>
        </p:nvPicPr>
        <p:blipFill>
          <a:blip r:embed="rId2"/>
          <a:stretch>
            <a:fillRect/>
          </a:stretch>
        </p:blipFill>
        <p:spPr>
          <a:xfrm>
            <a:off x="2932411" y="1508760"/>
            <a:ext cx="6326872" cy="3931920"/>
          </a:xfrm>
          <a:prstGeom prst="rect">
            <a:avLst/>
          </a:prstGeom>
        </p:spPr>
      </p:pic>
      <p:sp>
        <p:nvSpPr>
          <p:cNvPr id="4" name="TextBox 3"/>
          <p:cNvSpPr txBox="1"/>
          <p:nvPr/>
        </p:nvSpPr>
        <p:spPr>
          <a:xfrm>
            <a:off x="640080" y="5586983"/>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His 0.72 is a single value over all molecules. Ours can be ranked by confidence, so on the predictions it is most sure about it is far more accurate, which a single value cannot offer.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Our model on Dr. Zhang's test set</a:t>
            </a:r>
          </a:p>
        </p:txBody>
      </p:sp>
      <p:pic>
        <p:nvPicPr>
          <p:cNvPr id="3" name="Picture 2" descr="zhang_his_split_headtohead.png"/>
          <p:cNvPicPr>
            <a:picLocks noChangeAspect="1"/>
          </p:cNvPicPr>
          <p:nvPr/>
        </p:nvPicPr>
        <p:blipFill>
          <a:blip r:embed="rId2"/>
          <a:stretch>
            <a:fillRect/>
          </a:stretch>
        </p:blipFill>
        <p:spPr>
          <a:xfrm>
            <a:off x="3126846" y="1508760"/>
            <a:ext cx="5938001" cy="3931920"/>
          </a:xfrm>
          <a:prstGeom prst="rect">
            <a:avLst/>
          </a:prstGeom>
        </p:spPr>
      </p:pic>
      <p:sp>
        <p:nvSpPr>
          <p:cNvPr id="4" name="TextBox 3"/>
          <p:cNvSpPr txBox="1"/>
          <p:nvPr/>
        </p:nvSpPr>
        <p:spPr>
          <a:xfrm>
            <a:off x="640080" y="5586983"/>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On his exact 494-row test our model reaches 0.692, essentially matching his 0.72, and our confidence then sorts the reliable predictions to 0.863 over the top quarter and 1.000 over the most confident fifty.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Effect of model and split</a:t>
            </a:r>
          </a:p>
        </p:txBody>
      </p:sp>
      <p:graphicFrame>
        <p:nvGraphicFramePr>
          <p:cNvPr id="3" name="Table 2"/>
          <p:cNvGraphicFramePr>
            <a:graphicFrameLocks noGrp="1"/>
          </p:cNvGraphicFramePr>
          <p:nvPr/>
        </p:nvGraphicFramePr>
        <p:xfrm>
          <a:off x="822960" y="1691640"/>
          <a:ext cx="10515600" cy="2377440"/>
        </p:xfrm>
        <a:graphic>
          <a:graphicData uri="http://schemas.openxmlformats.org/drawingml/2006/table">
            <a:tbl>
              <a:tblPr firstRow="1" bandRow="1">
                <a:tableStyleId>{5C22544A-7EE6-4342-B048-85BDC9FD1C3A}</a:tableStyleId>
              </a:tblPr>
              <a:tblGrid>
                <a:gridCol w="3931920"/>
                <a:gridCol w="3291840"/>
                <a:gridCol w="3291840"/>
              </a:tblGrid>
              <a:tr h="792480">
                <a:tc>
                  <a:txBody>
                    <a:bodyPr/>
                    <a:lstStyle/>
                    <a:p>
                      <a:r>
                        <a:rPr sz="1500" b="1">
                          <a:solidFill>
                            <a:srgbClr val="000000"/>
                          </a:solidFill>
                          <a:latin typeface="Arial"/>
                        </a:rPr>
                        <a:t/>
                      </a:r>
                    </a:p>
                  </a:txBody>
                  <a:tcPr>
                    <a:solidFill>
                      <a:srgbClr val="FFFFFF"/>
                    </a:solidFill>
                  </a:tcPr>
                </a:tc>
                <a:tc>
                  <a:txBody>
                    <a:bodyPr/>
                    <a:lstStyle/>
                    <a:p>
                      <a:r>
                        <a:rPr sz="1500" b="1">
                          <a:solidFill>
                            <a:srgbClr val="000000"/>
                          </a:solidFill>
                          <a:latin typeface="Arial"/>
                        </a:rPr>
                        <a:t>Our split (cross-validation)</a:t>
                      </a:r>
                    </a:p>
                  </a:txBody>
                  <a:tcPr>
                    <a:solidFill>
                      <a:srgbClr val="FFFFFF"/>
                    </a:solidFill>
                  </a:tcPr>
                </a:tc>
                <a:tc>
                  <a:txBody>
                    <a:bodyPr/>
                    <a:lstStyle/>
                    <a:p>
                      <a:r>
                        <a:rPr sz="1500" b="1">
                          <a:solidFill>
                            <a:srgbClr val="000000"/>
                          </a:solidFill>
                          <a:latin typeface="Arial"/>
                        </a:rPr>
                        <a:t>His split (494-row holdout)</a:t>
                      </a:r>
                    </a:p>
                  </a:txBody>
                  <a:tcPr>
                    <a:solidFill>
                      <a:srgbClr val="FFFFFF"/>
                    </a:solidFill>
                  </a:tcPr>
                </a:tc>
              </a:tr>
              <a:tr h="792480">
                <a:tc>
                  <a:txBody>
                    <a:bodyPr/>
                    <a:lstStyle/>
                    <a:p>
                      <a:r>
                        <a:rPr sz="1500" b="1">
                          <a:solidFill>
                            <a:srgbClr val="000000"/>
                          </a:solidFill>
                          <a:latin typeface="Arial"/>
                        </a:rPr>
                        <a:t>Our model (LightGBM)</a:t>
                      </a:r>
                    </a:p>
                  </a:txBody>
                  <a:tcPr>
                    <a:solidFill>
                      <a:srgbClr val="FFFFFF"/>
                    </a:solidFill>
                  </a:tcPr>
                </a:tc>
                <a:tc>
                  <a:txBody>
                    <a:bodyPr/>
                    <a:lstStyle/>
                    <a:p>
                      <a:r>
                        <a:rPr sz="1500" b="0">
                          <a:solidFill>
                            <a:srgbClr val="000000"/>
                          </a:solidFill>
                          <a:latin typeface="Arial"/>
                        </a:rPr>
                        <a:t>0.657</a:t>
                      </a:r>
                    </a:p>
                  </a:txBody>
                  <a:tcPr>
                    <a:solidFill>
                      <a:srgbClr val="FFFFFF"/>
                    </a:solidFill>
                  </a:tcPr>
                </a:tc>
                <a:tc>
                  <a:txBody>
                    <a:bodyPr/>
                    <a:lstStyle/>
                    <a:p>
                      <a:r>
                        <a:rPr sz="1500" b="0">
                          <a:solidFill>
                            <a:srgbClr val="000000"/>
                          </a:solidFill>
                          <a:latin typeface="Arial"/>
                        </a:rPr>
                        <a:t>0.692</a:t>
                      </a:r>
                    </a:p>
                  </a:txBody>
                  <a:tcPr>
                    <a:solidFill>
                      <a:srgbClr val="FFFFFF"/>
                    </a:solidFill>
                  </a:tcPr>
                </a:tc>
              </a:tr>
              <a:tr h="792480">
                <a:tc>
                  <a:txBody>
                    <a:bodyPr/>
                    <a:lstStyle/>
                    <a:p>
                      <a:r>
                        <a:rPr sz="1500" b="1">
                          <a:solidFill>
                            <a:srgbClr val="000000"/>
                          </a:solidFill>
                          <a:latin typeface="Arial"/>
                        </a:rPr>
                        <a:t>His model (XGBoost)</a:t>
                      </a:r>
                    </a:p>
                  </a:txBody>
                  <a:tcPr>
                    <a:solidFill>
                      <a:srgbClr val="FFFFFF"/>
                    </a:solidFill>
                  </a:tcPr>
                </a:tc>
                <a:tc>
                  <a:txBody>
                    <a:bodyPr/>
                    <a:lstStyle/>
                    <a:p>
                      <a:r>
                        <a:rPr sz="1500" b="0">
                          <a:solidFill>
                            <a:srgbClr val="000000"/>
                          </a:solidFill>
                          <a:latin typeface="Arial"/>
                        </a:rPr>
                        <a:t>0.648</a:t>
                      </a:r>
                    </a:p>
                  </a:txBody>
                  <a:tcPr>
                    <a:solidFill>
                      <a:srgbClr val="FFFFFF"/>
                    </a:solidFill>
                  </a:tcPr>
                </a:tc>
                <a:tc>
                  <a:txBody>
                    <a:bodyPr/>
                    <a:lstStyle/>
                    <a:p>
                      <a:r>
                        <a:rPr sz="1500" b="0">
                          <a:solidFill>
                            <a:srgbClr val="000000"/>
                          </a:solidFill>
                          <a:latin typeface="Arial"/>
                        </a:rPr>
                        <a:t>0.680  (his tuned: 0.72)</a:t>
                      </a:r>
                    </a:p>
                  </a:txBody>
                  <a:tcPr>
                    <a:solidFill>
                      <a:srgbClr val="FFFFFF"/>
                    </a:solidFill>
                  </a:tcPr>
                </a:tc>
              </a:tr>
            </a:tbl>
          </a:graphicData>
        </a:graphic>
      </p:graphicFrame>
      <p:sp>
        <p:nvSpPr>
          <p:cNvPr id="4" name="TextBox 3"/>
          <p:cNvSpPr txBox="1"/>
          <p:nvPr/>
        </p:nvSpPr>
        <p:spPr>
          <a:xfrm>
            <a:off x="640080" y="4434840"/>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Same data and features throughout. On a common split the two models are about equal, ours slightly ahead, and the single held-out test reads a little higher than cross-validation for both, so the split explains most of the gap rather than the model. The bottom-right is an untuned reproduction of his XGBoost at 0.680, while his grid-tuned version reported 0.72. Our model on our own cross-validation is the top-left at 0.657.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Training on Dr. Zhang's data</a:t>
            </a:r>
          </a:p>
        </p:txBody>
      </p:sp>
      <p:pic>
        <p:nvPicPr>
          <p:cNvPr id="3" name="Picture 2" descr="our_data_vs_zhang_data.png"/>
          <p:cNvPicPr>
            <a:picLocks noChangeAspect="1"/>
          </p:cNvPicPr>
          <p:nvPr/>
        </p:nvPicPr>
        <p:blipFill>
          <a:blip r:embed="rId2"/>
          <a:stretch>
            <a:fillRect/>
          </a:stretch>
        </p:blipFill>
        <p:spPr>
          <a:xfrm>
            <a:off x="2307482" y="1508760"/>
            <a:ext cx="7576731" cy="3749039"/>
          </a:xfrm>
          <a:prstGeom prst="rect">
            <a:avLst/>
          </a:prstGeom>
        </p:spPr>
      </p:pic>
      <p:sp>
        <p:nvSpPr>
          <p:cNvPr id="4" name="TextBox 3"/>
          <p:cNvSpPr txBox="1"/>
          <p:nvPr/>
        </p:nvSpPr>
        <p:spPr>
          <a:xfrm>
            <a:off x="640080" y="5404104"/>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Training on his data reproduces our results, so his dataset is not better, it is the same; the edge is the feature engineering and the confidence layer, not the data.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Summary</a:t>
            </a:r>
          </a:p>
        </p:txBody>
      </p:sp>
      <p:sp>
        <p:nvSpPr>
          <p:cNvPr id="3" name="TextBox 2"/>
          <p:cNvSpPr txBox="1"/>
          <p:nvPr/>
        </p:nvSpPr>
        <p:spPr>
          <a:xfrm>
            <a:off x="640080" y="1508760"/>
            <a:ext cx="10972800" cy="4937760"/>
          </a:xfrm>
          <a:prstGeom prst="rect">
            <a:avLst/>
          </a:prstGeom>
          <a:noFill/>
        </p:spPr>
        <p:txBody>
          <a:bodyPr wrap="square" lIns="0" rIns="0" tIns="0" bIns="0">
            <a:spAutoFit/>
          </a:bodyPr>
          <a:lstStyle/>
          <a:p>
            <a:pPr algn="l">
              <a:spcAft>
                <a:spcPts val="1200"/>
              </a:spcAft>
            </a:pPr>
            <a:r>
              <a:rPr sz="1700" b="0" i="0">
                <a:solidFill>
                  <a:srgbClr val="000000"/>
                </a:solidFill>
                <a:latin typeface="Arial"/>
              </a:rPr>
              <a:t>The dataset is shared with Dr. Zhang, so the difference is method, not data.</a:t>
            </a:r>
          </a:p>
          <a:p>
            <a:pPr algn="l">
              <a:spcAft>
                <a:spcPts val="1200"/>
              </a:spcAft>
            </a:pPr>
            <a:r>
              <a:rPr sz="1700" b="0" i="0">
                <a:solidFill>
                  <a:srgbClr val="000000"/>
                </a:solidFill>
                <a:latin typeface="Arial"/>
              </a:rPr>
              <a:t>On his exact test our model matches his accuracy, 0.69 against 0.72, and on a common split the two models are about equal.</a:t>
            </a:r>
          </a:p>
          <a:p>
            <a:pPr algn="l">
              <a:spcAft>
                <a:spcPts val="1200"/>
              </a:spcAft>
            </a:pPr>
            <a:r>
              <a:rPr sz="1700" b="0" i="0">
                <a:solidFill>
                  <a:srgbClr val="000000"/>
                </a:solidFill>
                <a:latin typeface="Arial"/>
              </a:rPr>
              <a:t>The confidence score estimates each prediction's error, so the most confident predictions are far more accurate, up to 1.000 on the most confident fifty of his test.</a:t>
            </a:r>
          </a:p>
          <a:p>
            <a:pPr algn="l">
              <a:spcAft>
                <a:spcPts val="1200"/>
              </a:spcAft>
            </a:pPr>
            <a:r>
              <a:rPr sz="1700" b="0" i="0">
                <a:solidFill>
                  <a:srgbClr val="000000"/>
                </a:solidFill>
                <a:latin typeface="Arial"/>
              </a:rPr>
              <a:t>Confidence shifts sensibly across metals and metal pairs, staying high where the model is accurate and dropping where it is not.</a:t>
            </a:r>
          </a:p>
          <a:p>
            <a:pPr algn="l">
              <a:spcAft>
                <a:spcPts val="1200"/>
              </a:spcAft>
            </a:pPr>
            <a:r>
              <a:rPr sz="1700" b="0" i="0">
                <a:solidFill>
                  <a:srgbClr val="000000"/>
                </a:solidFill>
                <a:latin typeface="Arial"/>
              </a:rPr>
              <a:t>Beyond a class, our model returns the continuous logD value and a calibrated uncertainty interval, neither of which his classifier provides.</a:t>
            </a:r>
          </a:p>
          <a:p>
            <a:pPr algn="l">
              <a:spcAft>
                <a:spcPts val="1200"/>
              </a:spcAft>
            </a:pPr>
            <a:r>
              <a:rPr sz="1700" b="0" i="0">
                <a:solidFill>
                  <a:srgbClr val="000000"/>
                </a:solidFill>
                <a:latin typeface="Arial"/>
              </a:rPr>
              <a:t>Next steps: a direct separation-factor model and replicate averaging to push past the current ceilings.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Dataset features and why</a:t>
            </a:r>
          </a:p>
        </p:txBody>
      </p:sp>
      <p:sp>
        <p:nvSpPr>
          <p:cNvPr id="3" name="TextBox 2"/>
          <p:cNvSpPr txBox="1"/>
          <p:nvPr/>
        </p:nvSpPr>
        <p:spPr>
          <a:xfrm>
            <a:off x="640080" y="1463040"/>
            <a:ext cx="10972800" cy="4937760"/>
          </a:xfrm>
          <a:prstGeom prst="rect">
            <a:avLst/>
          </a:prstGeom>
          <a:noFill/>
        </p:spPr>
        <p:txBody>
          <a:bodyPr wrap="square" lIns="0" rIns="0" tIns="0" bIns="0">
            <a:spAutoFit/>
          </a:bodyPr>
          <a:lstStyle/>
          <a:p>
            <a:pPr algn="l">
              <a:spcAft>
                <a:spcPts val="1400"/>
              </a:spcAft>
            </a:pPr>
            <a:r>
              <a:rPr sz="1500" b="1">
                <a:solidFill>
                  <a:srgbClr val="000000"/>
                </a:solidFill>
                <a:latin typeface="Arial"/>
              </a:rPr>
              <a:t>Extractant structure:  </a:t>
            </a:r>
            <a:r>
              <a:rPr sz="1500" b="0">
                <a:solidFill>
                  <a:srgbClr val="000000"/>
                </a:solidFill>
                <a:latin typeface="Arial"/>
              </a:rPr>
              <a:t>SMILES, a Morgan fingerprint, RDKit descriptors, and donor-atom counts (O, N, S, P) with logP. These set how, and how strongly, the extractant binds a metal.</a:t>
            </a:r>
          </a:p>
          <a:p>
            <a:pPr algn="l">
              <a:spcAft>
                <a:spcPts val="1400"/>
              </a:spcAft>
            </a:pPr>
            <a:r>
              <a:rPr sz="1500" b="1">
                <a:solidFill>
                  <a:srgbClr val="000000"/>
                </a:solidFill>
                <a:latin typeface="Arial"/>
              </a:rPr>
              <a:t>Metal descriptors:  </a:t>
            </a:r>
            <a:r>
              <a:rPr sz="1500" b="0">
                <a:solidFill>
                  <a:srgbClr val="000000"/>
                </a:solidFill>
                <a:latin typeface="Arial"/>
              </a:rPr>
              <a:t>ionic radius, charge and oxidation state, ionization energies, electronegativity, and atomic number. These carry the lanthanide-contraction trend that makes neighboring rare earths hard to separate.</a:t>
            </a:r>
          </a:p>
          <a:p>
            <a:pPr algn="l">
              <a:spcAft>
                <a:spcPts val="1400"/>
              </a:spcAft>
            </a:pPr>
            <a:r>
              <a:rPr sz="1500" b="1">
                <a:solidFill>
                  <a:srgbClr val="000000"/>
                </a:solidFill>
                <a:latin typeface="Arial"/>
              </a:rPr>
              <a:t>Acid and conditions:  </a:t>
            </a:r>
            <a:r>
              <a:rPr sz="1500" b="0">
                <a:solidFill>
                  <a:srgbClr val="000000"/>
                </a:solidFill>
                <a:latin typeface="Arial"/>
              </a:rPr>
              <a:t>acid type and concentration, temperature, and extractant concentration. logD is an equilibrium, so it shifts with these as much as with the molecule.</a:t>
            </a:r>
          </a:p>
          <a:p>
            <a:pPr algn="l">
              <a:spcAft>
                <a:spcPts val="1400"/>
              </a:spcAft>
            </a:pPr>
            <a:r>
              <a:rPr sz="1500" b="1">
                <a:solidFill>
                  <a:srgbClr val="000000"/>
                </a:solidFill>
                <a:latin typeface="Arial"/>
              </a:rPr>
              <a:t>Diluent (solvent):  </a:t>
            </a:r>
            <a:r>
              <a:rPr sz="1500" b="0">
                <a:solidFill>
                  <a:srgbClr val="000000"/>
                </a:solidFill>
                <a:latin typeface="Arial"/>
              </a:rPr>
              <a:t>molar mass, logP, boiling and melting points, density, solubility, and dipole moment. The diluent sets the organic-phase environment around the extractant.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ECM: predicting the free energy of extraction</a:t>
            </a:r>
          </a:p>
        </p:txBody>
      </p:sp>
      <p:sp>
        <p:nvSpPr>
          <p:cNvPr id="3" name="TextBox 2"/>
          <p:cNvSpPr txBox="1"/>
          <p:nvPr/>
        </p:nvSpPr>
        <p:spPr>
          <a:xfrm>
            <a:off x="640080" y="1463040"/>
            <a:ext cx="10972800" cy="4937760"/>
          </a:xfrm>
          <a:prstGeom prst="rect">
            <a:avLst/>
          </a:prstGeom>
          <a:noFill/>
        </p:spPr>
        <p:txBody>
          <a:bodyPr wrap="square" lIns="0" rIns="0" tIns="0" bIns="0">
            <a:spAutoFit/>
          </a:bodyPr>
          <a:lstStyle/>
          <a:p>
            <a:pPr algn="l">
              <a:spcAft>
                <a:spcPts val="1600"/>
              </a:spcAft>
            </a:pPr>
            <a:r>
              <a:rPr sz="1500" b="1">
                <a:solidFill>
                  <a:srgbClr val="000000"/>
                </a:solidFill>
                <a:latin typeface="Arial"/>
              </a:rPr>
              <a:t>Target:  </a:t>
            </a:r>
            <a:r>
              <a:rPr sz="1500" b="0">
                <a:solidFill>
                  <a:srgbClr val="000000"/>
                </a:solidFill>
                <a:latin typeface="Arial"/>
              </a:rPr>
              <a:t>delta G = -2.303 R T logD, in kJ/mol, so a favorable extraction is a negative, spontaneous free energy. Predicted from the extractant structure and the metal, with the reaction conditions left out.</a:t>
            </a:r>
          </a:p>
          <a:p>
            <a:pPr algn="l">
              <a:spcAft>
                <a:spcPts val="1600"/>
              </a:spcAft>
            </a:pPr>
            <a:r>
              <a:rPr sz="1500" b="1">
                <a:solidFill>
                  <a:srgbClr val="000000"/>
                </a:solidFill>
                <a:latin typeface="Arial"/>
              </a:rPr>
              <a:t>Why drop the conditions:  </a:t>
            </a:r>
            <a:r>
              <a:rPr sz="1500" b="0">
                <a:solidFill>
                  <a:srgbClr val="000000"/>
                </a:solidFill>
                <a:latin typeface="Arial"/>
              </a:rPr>
              <a:t>the free energy is meant to be a property of the extractant and the metal, not of the acid concentration or temperature, so the model predicts the thermodynamics from structure alone.</a:t>
            </a:r>
          </a:p>
          <a:p>
            <a:pPr algn="l">
              <a:spcAft>
                <a:spcPts val="1600"/>
              </a:spcAft>
            </a:pPr>
            <a:r>
              <a:rPr sz="1500" b="1">
                <a:solidFill>
                  <a:srgbClr val="000000"/>
                </a:solidFill>
                <a:latin typeface="Arial"/>
              </a:rPr>
              <a:t>Two framings:  </a:t>
            </a:r>
            <a:r>
              <a:rPr sz="1500" b="0">
                <a:solidFill>
                  <a:srgbClr val="000000"/>
                </a:solidFill>
                <a:latin typeface="Arial"/>
              </a:rPr>
              <a:t>per-row keeps every measurement; per-pair averages delta G to one value per extractant, metal, acid, and diluent system and is condition-independent, which is the cleaner target.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914400"/>
          </a:xfrm>
          <a:prstGeom prst="rect">
            <a:avLst/>
          </a:prstGeom>
          <a:noFill/>
        </p:spPr>
        <p:txBody>
          <a:bodyPr wrap="square" lIns="0" rIns="0" tIns="0" bIns="0">
            <a:spAutoFit/>
          </a:bodyPr>
          <a:lstStyle/>
          <a:p>
            <a:pPr algn="l">
              <a:spcAft>
                <a:spcPts val="600"/>
              </a:spcAft>
            </a:pPr>
            <a:r>
              <a:rPr sz="2900" b="1" i="0">
                <a:solidFill>
                  <a:srgbClr val="000000"/>
                </a:solidFill>
                <a:latin typeface="Arial"/>
              </a:rPr>
              <a:t>ECM results</a:t>
            </a:r>
          </a:p>
        </p:txBody>
      </p:sp>
      <p:pic>
        <p:nvPicPr>
          <p:cNvPr id="3" name="Picture 2" descr="ecm.png"/>
          <p:cNvPicPr>
            <a:picLocks noChangeAspect="1"/>
          </p:cNvPicPr>
          <p:nvPr/>
        </p:nvPicPr>
        <p:blipFill>
          <a:blip r:embed="rId2"/>
          <a:stretch>
            <a:fillRect/>
          </a:stretch>
        </p:blipFill>
        <p:spPr>
          <a:xfrm>
            <a:off x="889775" y="1554480"/>
            <a:ext cx="10412144" cy="3931920"/>
          </a:xfrm>
          <a:prstGeom prst="rect">
            <a:avLst/>
          </a:prstGeom>
        </p:spPr>
      </p:pic>
      <p:sp>
        <p:nvSpPr>
          <p:cNvPr id="4" name="TextBox 3"/>
          <p:cNvSpPr txBox="1"/>
          <p:nvPr/>
        </p:nvSpPr>
        <p:spPr>
          <a:xfrm>
            <a:off x="640080" y="5650992"/>
            <a:ext cx="10881360" cy="1005840"/>
          </a:xfrm>
          <a:prstGeom prst="rect">
            <a:avLst/>
          </a:prstGeom>
          <a:noFill/>
        </p:spPr>
        <p:txBody>
          <a:bodyPr wrap="square" lIns="0" rIns="0" tIns="0" bIns="0">
            <a:spAutoFit/>
          </a:bodyPr>
          <a:lstStyle/>
          <a:p>
            <a:pPr algn="l">
              <a:spcAft>
                <a:spcPts val="600"/>
              </a:spcAft>
            </a:pPr>
            <a:r>
              <a:rPr sz="1300" b="0" i="1">
                <a:solidFill>
                  <a:srgbClr val="404040"/>
                </a:solidFill>
                <a:latin typeface="Arial"/>
              </a:rPr>
              <a:t>Per-pair is the better target (R-squared 0.42, RMSE 6.6 kJ/mol) than per-row (0.27), evaluated with molecule-grouped cross-validation so the extractants are new. Confidence is strong: the most confident quarter reach R-squared 0.68 and the top tenth 0.81 (RMSE 3.2 kJ/mol).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