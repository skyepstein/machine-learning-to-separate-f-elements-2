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76"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18"/>
    <p:restoredTop sz="95342"/>
  </p:normalViewPr>
  <p:slideViewPr>
    <p:cSldViewPr snapToGrid="0" snapToObjects="1">
      <p:cViewPr varScale="1">
        <p:scale>
          <a:sx n="57" d="100"/>
          <a:sy n="57" d="100"/>
        </p:scale>
        <p:origin x="184" y="15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NUL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523845"/>
            <a:ext cx="10972800" cy="2539157"/>
          </a:xfrm>
          <a:prstGeom prst="rect">
            <a:avLst/>
          </a:prstGeom>
          <a:noFill/>
        </p:spPr>
        <p:txBody>
          <a:bodyPr wrap="square" lIns="0" tIns="0" rIns="0" bIns="0">
            <a:spAutoFit/>
          </a:bodyPr>
          <a:lstStyle/>
          <a:p>
            <a:pPr algn="l">
              <a:spcAft>
                <a:spcPts val="600"/>
              </a:spcAft>
            </a:pPr>
            <a:r>
              <a:rPr sz="4400" b="1" i="0" dirty="0">
                <a:solidFill>
                  <a:srgbClr val="000000"/>
                </a:solidFill>
                <a:latin typeface="Arial"/>
              </a:rPr>
              <a:t>Predicting </a:t>
            </a:r>
            <a:r>
              <a:rPr sz="4400" b="1" i="0" dirty="0" err="1">
                <a:solidFill>
                  <a:srgbClr val="000000"/>
                </a:solidFill>
                <a:latin typeface="Arial"/>
              </a:rPr>
              <a:t>logD</a:t>
            </a:r>
            <a:r>
              <a:rPr sz="4400" b="1" i="0" dirty="0">
                <a:solidFill>
                  <a:srgbClr val="000000"/>
                </a:solidFill>
                <a:latin typeface="Arial"/>
              </a:rPr>
              <a:t> for Rare-Earth Solvent Extraction</a:t>
            </a:r>
          </a:p>
          <a:p>
            <a:pPr algn="l">
              <a:spcAft>
                <a:spcPts val="600"/>
              </a:spcAft>
            </a:pPr>
            <a:r>
              <a:rPr sz="2400" b="0" i="0" dirty="0">
                <a:solidFill>
                  <a:srgbClr val="000000"/>
                </a:solidFill>
                <a:latin typeface="Arial"/>
              </a:rPr>
              <a:t>Using LLM-assisted coding to predict </a:t>
            </a:r>
            <a:r>
              <a:rPr sz="2400" b="0" i="0" dirty="0" err="1">
                <a:solidFill>
                  <a:srgbClr val="000000"/>
                </a:solidFill>
                <a:latin typeface="Arial"/>
              </a:rPr>
              <a:t>logD</a:t>
            </a:r>
            <a:r>
              <a:rPr sz="2400" b="0" i="0" dirty="0">
                <a:solidFill>
                  <a:srgbClr val="000000"/>
                </a:solidFill>
                <a:latin typeface="Arial"/>
              </a:rPr>
              <a:t> and judge how well an extractant separates two f-elements, with calibrated confidence and a comparison with Dr. Zhang's model</a:t>
            </a:r>
          </a:p>
        </p:txBody>
      </p:sp>
      <p:sp>
        <p:nvSpPr>
          <p:cNvPr id="3" name="TextBox 2"/>
          <p:cNvSpPr txBox="1"/>
          <p:nvPr/>
        </p:nvSpPr>
        <p:spPr>
          <a:xfrm>
            <a:off x="640080" y="4663440"/>
            <a:ext cx="10972800" cy="215444"/>
          </a:xfrm>
          <a:prstGeom prst="rect">
            <a:avLst/>
          </a:prstGeom>
          <a:noFill/>
        </p:spPr>
        <p:txBody>
          <a:bodyPr wrap="square" lIns="0" tIns="0" rIns="0" bIns="0">
            <a:spAutoFit/>
          </a:bodyPr>
          <a:lstStyle/>
          <a:p>
            <a:pPr algn="l">
              <a:spcAft>
                <a:spcPts val="600"/>
              </a:spcAft>
            </a:pPr>
            <a:r>
              <a:rPr sz="1400" b="0" i="0" dirty="0">
                <a:solidFill>
                  <a:srgbClr val="000000"/>
                </a:solidFill>
                <a:latin typeface="Arial"/>
              </a:rPr>
              <a:t>Skyler Epstein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72800" cy="914400"/>
          </a:xfrm>
          <a:prstGeom prst="rect">
            <a:avLst/>
          </a:prstGeom>
          <a:noFill/>
        </p:spPr>
        <p:txBody>
          <a:bodyPr wrap="square" lIns="0" tIns="0" rIns="0" bIns="0">
            <a:spAutoFit/>
          </a:bodyPr>
          <a:lstStyle/>
          <a:p>
            <a:pPr algn="l">
              <a:spcAft>
                <a:spcPts val="600"/>
              </a:spcAft>
            </a:pPr>
            <a:r>
              <a:rPr sz="2900" b="1" i="0">
                <a:solidFill>
                  <a:srgbClr val="000000"/>
                </a:solidFill>
                <a:latin typeface="Arial"/>
              </a:rPr>
              <a:t>Dataset</a:t>
            </a:r>
          </a:p>
        </p:txBody>
      </p:sp>
      <p:sp>
        <p:nvSpPr>
          <p:cNvPr id="3" name="TextBox 2"/>
          <p:cNvSpPr txBox="1"/>
          <p:nvPr/>
        </p:nvSpPr>
        <p:spPr>
          <a:xfrm>
            <a:off x="640080" y="1371600"/>
            <a:ext cx="10972800" cy="1554480"/>
          </a:xfrm>
          <a:prstGeom prst="rect">
            <a:avLst/>
          </a:prstGeom>
          <a:noFill/>
        </p:spPr>
        <p:txBody>
          <a:bodyPr wrap="square" lIns="0" tIns="0" rIns="0" bIns="0">
            <a:spAutoFit/>
          </a:bodyPr>
          <a:lstStyle/>
          <a:p>
            <a:pPr algn="l">
              <a:spcAft>
                <a:spcPts val="600"/>
              </a:spcAft>
            </a:pPr>
            <a:r>
              <a:rPr sz="1600" b="0" i="0" dirty="0">
                <a:solidFill>
                  <a:srgbClr val="000000"/>
                </a:solidFill>
                <a:latin typeface="Arial"/>
              </a:rPr>
              <a:t>The goal is to predict how well an extractant separates two f-elements, with </a:t>
            </a:r>
            <a:r>
              <a:rPr sz="1600" b="0" i="0" dirty="0" err="1">
                <a:solidFill>
                  <a:srgbClr val="000000"/>
                </a:solidFill>
                <a:latin typeface="Arial"/>
              </a:rPr>
              <a:t>logD</a:t>
            </a:r>
            <a:r>
              <a:rPr sz="1600" b="0" i="0" dirty="0">
                <a:solidFill>
                  <a:srgbClr val="000000"/>
                </a:solidFill>
                <a:latin typeface="Arial"/>
              </a:rPr>
              <a:t> (the log of the distribution coefficient, D) as the target. The inputs are molecular descriptors, the SMILES string, molecular fingerprints, and environmental factors such as pH and temperature.</a:t>
            </a:r>
          </a:p>
        </p:txBody>
      </p:sp>
      <p:sp>
        <p:nvSpPr>
          <p:cNvPr id="4" name="TextBox 3"/>
          <p:cNvSpPr txBox="1"/>
          <p:nvPr/>
        </p:nvSpPr>
        <p:spPr>
          <a:xfrm>
            <a:off x="640080" y="3108960"/>
            <a:ext cx="2743200" cy="1463040"/>
          </a:xfrm>
          <a:prstGeom prst="rect">
            <a:avLst/>
          </a:prstGeom>
          <a:noFill/>
        </p:spPr>
        <p:txBody>
          <a:bodyPr wrap="square" lIns="0" tIns="0" rIns="0" bIns="0">
            <a:spAutoFit/>
          </a:bodyPr>
          <a:lstStyle/>
          <a:p>
            <a:pPr algn="l">
              <a:spcAft>
                <a:spcPts val="600"/>
              </a:spcAft>
            </a:pPr>
            <a:r>
              <a:rPr sz="4400" b="1" i="0">
                <a:solidFill>
                  <a:srgbClr val="000000"/>
                </a:solidFill>
                <a:latin typeface="Arial"/>
              </a:rPr>
              <a:t>8,075</a:t>
            </a:r>
          </a:p>
          <a:p>
            <a:pPr algn="l">
              <a:spcAft>
                <a:spcPts val="600"/>
              </a:spcAft>
            </a:pPr>
            <a:r>
              <a:rPr sz="1400" b="0" i="0">
                <a:solidFill>
                  <a:srgbClr val="404040"/>
                </a:solidFill>
                <a:latin typeface="Arial"/>
              </a:rPr>
              <a:t>measurements</a:t>
            </a:r>
          </a:p>
        </p:txBody>
      </p:sp>
      <p:sp>
        <p:nvSpPr>
          <p:cNvPr id="5" name="TextBox 4"/>
          <p:cNvSpPr txBox="1"/>
          <p:nvPr/>
        </p:nvSpPr>
        <p:spPr>
          <a:xfrm>
            <a:off x="3429000" y="3108960"/>
            <a:ext cx="2743200" cy="1463040"/>
          </a:xfrm>
          <a:prstGeom prst="rect">
            <a:avLst/>
          </a:prstGeom>
          <a:noFill/>
        </p:spPr>
        <p:txBody>
          <a:bodyPr wrap="square" lIns="0" tIns="0" rIns="0" bIns="0">
            <a:spAutoFit/>
          </a:bodyPr>
          <a:lstStyle/>
          <a:p>
            <a:pPr algn="l">
              <a:spcAft>
                <a:spcPts val="600"/>
              </a:spcAft>
            </a:pPr>
            <a:r>
              <a:rPr sz="4400" b="1" i="0">
                <a:solidFill>
                  <a:srgbClr val="000000"/>
                </a:solidFill>
                <a:latin typeface="Arial"/>
              </a:rPr>
              <a:t>295</a:t>
            </a:r>
          </a:p>
          <a:p>
            <a:pPr algn="l">
              <a:spcAft>
                <a:spcPts val="600"/>
              </a:spcAft>
            </a:pPr>
            <a:r>
              <a:rPr sz="1400" b="0" i="0">
                <a:solidFill>
                  <a:srgbClr val="404040"/>
                </a:solidFill>
                <a:latin typeface="Arial"/>
              </a:rPr>
              <a:t>distinct extractants</a:t>
            </a:r>
          </a:p>
        </p:txBody>
      </p:sp>
      <p:sp>
        <p:nvSpPr>
          <p:cNvPr id="6" name="TextBox 5"/>
          <p:cNvSpPr txBox="1"/>
          <p:nvPr/>
        </p:nvSpPr>
        <p:spPr>
          <a:xfrm>
            <a:off x="6217920" y="3108960"/>
            <a:ext cx="2743200" cy="1463040"/>
          </a:xfrm>
          <a:prstGeom prst="rect">
            <a:avLst/>
          </a:prstGeom>
          <a:noFill/>
        </p:spPr>
        <p:txBody>
          <a:bodyPr wrap="square" lIns="0" tIns="0" rIns="0" bIns="0">
            <a:spAutoFit/>
          </a:bodyPr>
          <a:lstStyle/>
          <a:p>
            <a:pPr algn="l">
              <a:spcAft>
                <a:spcPts val="600"/>
              </a:spcAft>
            </a:pPr>
            <a:r>
              <a:rPr sz="4400" b="1" i="0">
                <a:solidFill>
                  <a:srgbClr val="000000"/>
                </a:solidFill>
                <a:latin typeface="Arial"/>
              </a:rPr>
              <a:t>28</a:t>
            </a:r>
          </a:p>
          <a:p>
            <a:pPr algn="l">
              <a:spcAft>
                <a:spcPts val="600"/>
              </a:spcAft>
            </a:pPr>
            <a:r>
              <a:rPr sz="1400" b="0" i="0">
                <a:solidFill>
                  <a:srgbClr val="404040"/>
                </a:solidFill>
                <a:latin typeface="Arial"/>
              </a:rPr>
              <a:t>f-element metals</a:t>
            </a:r>
          </a:p>
        </p:txBody>
      </p:sp>
      <p:sp>
        <p:nvSpPr>
          <p:cNvPr id="7" name="TextBox 6"/>
          <p:cNvSpPr txBox="1"/>
          <p:nvPr/>
        </p:nvSpPr>
        <p:spPr>
          <a:xfrm>
            <a:off x="9006840" y="3108960"/>
            <a:ext cx="2743200" cy="1463040"/>
          </a:xfrm>
          <a:prstGeom prst="rect">
            <a:avLst/>
          </a:prstGeom>
          <a:noFill/>
        </p:spPr>
        <p:txBody>
          <a:bodyPr wrap="square" lIns="0" tIns="0" rIns="0" bIns="0">
            <a:spAutoFit/>
          </a:bodyPr>
          <a:lstStyle/>
          <a:p>
            <a:pPr algn="l">
              <a:spcAft>
                <a:spcPts val="600"/>
              </a:spcAft>
            </a:pPr>
            <a:r>
              <a:rPr sz="4400" b="1" i="0">
                <a:solidFill>
                  <a:srgbClr val="000000"/>
                </a:solidFill>
                <a:latin typeface="Arial"/>
              </a:rPr>
              <a:t>~17.5</a:t>
            </a:r>
          </a:p>
          <a:p>
            <a:pPr algn="l">
              <a:spcAft>
                <a:spcPts val="600"/>
              </a:spcAft>
            </a:pPr>
            <a:r>
              <a:rPr sz="1400" b="0" i="0">
                <a:solidFill>
                  <a:srgbClr val="404040"/>
                </a:solidFill>
                <a:latin typeface="Arial"/>
              </a:rPr>
              <a:t>log-unit range of logD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72800" cy="914400"/>
          </a:xfrm>
          <a:prstGeom prst="rect">
            <a:avLst/>
          </a:prstGeom>
          <a:noFill/>
        </p:spPr>
        <p:txBody>
          <a:bodyPr wrap="square" lIns="0" tIns="0" rIns="0" bIns="0">
            <a:spAutoFit/>
          </a:bodyPr>
          <a:lstStyle/>
          <a:p>
            <a:pPr algn="l">
              <a:spcAft>
                <a:spcPts val="600"/>
              </a:spcAft>
            </a:pPr>
            <a:r>
              <a:rPr sz="2900" b="1" i="0">
                <a:solidFill>
                  <a:srgbClr val="000000"/>
                </a:solidFill>
                <a:latin typeface="Arial"/>
              </a:rPr>
              <a:t>Two prediction tasks</a:t>
            </a:r>
          </a:p>
        </p:txBody>
      </p:sp>
      <p:sp>
        <p:nvSpPr>
          <p:cNvPr id="3" name="TextBox 2"/>
          <p:cNvSpPr txBox="1"/>
          <p:nvPr/>
        </p:nvSpPr>
        <p:spPr>
          <a:xfrm>
            <a:off x="640080" y="1371600"/>
            <a:ext cx="10972800" cy="246221"/>
          </a:xfrm>
          <a:prstGeom prst="rect">
            <a:avLst/>
          </a:prstGeom>
          <a:noFill/>
        </p:spPr>
        <p:txBody>
          <a:bodyPr wrap="square" lIns="0" tIns="0" rIns="0" bIns="0">
            <a:spAutoFit/>
          </a:bodyPr>
          <a:lstStyle/>
          <a:p>
            <a:pPr algn="l">
              <a:spcAft>
                <a:spcPts val="600"/>
              </a:spcAft>
            </a:pPr>
            <a:r>
              <a:rPr sz="1600" b="0" i="0" dirty="0">
                <a:solidFill>
                  <a:srgbClr val="000000"/>
                </a:solidFill>
                <a:latin typeface="Arial"/>
              </a:rPr>
              <a:t>The tasks are kept apart so a molecule cannot leak across training and testing, which would inflate the score.</a:t>
            </a:r>
          </a:p>
        </p:txBody>
      </p:sp>
      <p:sp>
        <p:nvSpPr>
          <p:cNvPr id="4" name="TextBox 3"/>
          <p:cNvSpPr txBox="1"/>
          <p:nvPr/>
        </p:nvSpPr>
        <p:spPr>
          <a:xfrm>
            <a:off x="640080" y="2377440"/>
            <a:ext cx="5303520" cy="1872307"/>
          </a:xfrm>
          <a:prstGeom prst="rect">
            <a:avLst/>
          </a:prstGeom>
          <a:noFill/>
        </p:spPr>
        <p:txBody>
          <a:bodyPr wrap="square" lIns="0" tIns="0" rIns="0" bIns="0">
            <a:spAutoFit/>
          </a:bodyPr>
          <a:lstStyle/>
          <a:p>
            <a:pPr algn="l">
              <a:spcAft>
                <a:spcPts val="600"/>
              </a:spcAft>
            </a:pPr>
            <a:r>
              <a:rPr sz="2000" b="1" i="0" dirty="0">
                <a:solidFill>
                  <a:srgbClr val="000000"/>
                </a:solidFill>
                <a:latin typeface="Arial"/>
              </a:rPr>
              <a:t>Track A: screen a new molecule</a:t>
            </a:r>
          </a:p>
          <a:p>
            <a:pPr algn="l">
              <a:spcAft>
                <a:spcPts val="1200"/>
              </a:spcAft>
            </a:pPr>
            <a:r>
              <a:rPr sz="2000" b="0" dirty="0">
                <a:latin typeface="Arial"/>
              </a:rPr>
              <a:t>molecule-grouped cross-validation</a:t>
            </a:r>
          </a:p>
          <a:p>
            <a:pPr algn="l">
              <a:spcAft>
                <a:spcPts val="800"/>
              </a:spcAft>
            </a:pPr>
            <a:r>
              <a:rPr sz="2000" b="1" i="0" dirty="0">
                <a:solidFill>
                  <a:srgbClr val="000000"/>
                </a:solidFill>
                <a:latin typeface="Arial"/>
              </a:rPr>
              <a:t>R-squared 0.466     RMSE 1.148</a:t>
            </a:r>
          </a:p>
          <a:p>
            <a:pPr algn="l">
              <a:spcAft>
                <a:spcPts val="600"/>
              </a:spcAft>
            </a:pPr>
            <a:r>
              <a:rPr sz="2000" b="0" i="0" dirty="0">
                <a:solidFill>
                  <a:srgbClr val="000000"/>
                </a:solidFill>
                <a:latin typeface="Arial"/>
              </a:rPr>
              <a:t>Most confident 10 percent: R-squared 0.912, RMSE 0.493</a:t>
            </a:r>
          </a:p>
        </p:txBody>
      </p:sp>
      <p:sp>
        <p:nvSpPr>
          <p:cNvPr id="5" name="TextBox 4"/>
          <p:cNvSpPr txBox="1"/>
          <p:nvPr/>
        </p:nvSpPr>
        <p:spPr>
          <a:xfrm>
            <a:off x="6400800" y="2377440"/>
            <a:ext cx="5303520" cy="1872307"/>
          </a:xfrm>
          <a:prstGeom prst="rect">
            <a:avLst/>
          </a:prstGeom>
          <a:noFill/>
        </p:spPr>
        <p:txBody>
          <a:bodyPr wrap="square" lIns="0" tIns="0" rIns="0" bIns="0">
            <a:spAutoFit/>
          </a:bodyPr>
          <a:lstStyle/>
          <a:p>
            <a:pPr algn="l">
              <a:spcAft>
                <a:spcPts val="600"/>
              </a:spcAft>
            </a:pPr>
            <a:r>
              <a:rPr sz="2000" b="1" i="0" dirty="0">
                <a:solidFill>
                  <a:srgbClr val="000000"/>
                </a:solidFill>
                <a:latin typeface="Arial"/>
              </a:rPr>
              <a:t>Track B: optimize conditions</a:t>
            </a:r>
          </a:p>
          <a:p>
            <a:pPr algn="l">
              <a:spcAft>
                <a:spcPts val="1200"/>
              </a:spcAft>
            </a:pPr>
            <a:r>
              <a:rPr sz="2000" b="0" dirty="0">
                <a:latin typeface="Arial"/>
              </a:rPr>
              <a:t>random-row cross-validation</a:t>
            </a:r>
          </a:p>
          <a:p>
            <a:pPr algn="l">
              <a:spcAft>
                <a:spcPts val="800"/>
              </a:spcAft>
            </a:pPr>
            <a:r>
              <a:rPr sz="2000" b="1" i="0" dirty="0">
                <a:solidFill>
                  <a:srgbClr val="000000"/>
                </a:solidFill>
                <a:latin typeface="Arial"/>
              </a:rPr>
              <a:t>R-squared 0.725     RMSE 0.823</a:t>
            </a:r>
          </a:p>
          <a:p>
            <a:pPr algn="l">
              <a:spcAft>
                <a:spcPts val="600"/>
              </a:spcAft>
            </a:pPr>
            <a:r>
              <a:rPr sz="2000" b="0" i="0" dirty="0">
                <a:solidFill>
                  <a:srgbClr val="000000"/>
                </a:solidFill>
                <a:latin typeface="Arial"/>
              </a:rPr>
              <a:t>Most confident 10 percent: R-squared 0.940, RMSE 0.341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72800" cy="914400"/>
          </a:xfrm>
          <a:prstGeom prst="rect">
            <a:avLst/>
          </a:prstGeom>
          <a:noFill/>
        </p:spPr>
        <p:txBody>
          <a:bodyPr wrap="square" lIns="0" tIns="0" rIns="0" bIns="0">
            <a:spAutoFit/>
          </a:bodyPr>
          <a:lstStyle/>
          <a:p>
            <a:pPr algn="l">
              <a:spcAft>
                <a:spcPts val="600"/>
              </a:spcAft>
            </a:pPr>
            <a:r>
              <a:rPr sz="2900" b="1" i="0">
                <a:solidFill>
                  <a:srgbClr val="000000"/>
                </a:solidFill>
                <a:latin typeface="Arial"/>
              </a:rPr>
              <a:t>Definitions</a:t>
            </a:r>
          </a:p>
        </p:txBody>
      </p:sp>
      <p:sp>
        <p:nvSpPr>
          <p:cNvPr id="3" name="TextBox 2"/>
          <p:cNvSpPr txBox="1"/>
          <p:nvPr/>
        </p:nvSpPr>
        <p:spPr>
          <a:xfrm>
            <a:off x="640080" y="1463040"/>
            <a:ext cx="10972800" cy="3744615"/>
          </a:xfrm>
          <a:prstGeom prst="rect">
            <a:avLst/>
          </a:prstGeom>
          <a:noFill/>
        </p:spPr>
        <p:txBody>
          <a:bodyPr wrap="square" lIns="0" tIns="0" rIns="0" bIns="0">
            <a:spAutoFit/>
          </a:bodyPr>
          <a:lstStyle/>
          <a:p>
            <a:pPr algn="l">
              <a:spcAft>
                <a:spcPts val="1300"/>
              </a:spcAft>
            </a:pPr>
            <a:r>
              <a:rPr sz="2000" b="1" dirty="0">
                <a:solidFill>
                  <a:srgbClr val="000000"/>
                </a:solidFill>
                <a:latin typeface="Arial"/>
              </a:rPr>
              <a:t>Confidence score:  </a:t>
            </a:r>
            <a:r>
              <a:rPr sz="2000" b="0" dirty="0">
                <a:solidFill>
                  <a:srgbClr val="000000"/>
                </a:solidFill>
                <a:latin typeface="Arial"/>
              </a:rPr>
              <a:t>a second model estimates how far off each prediction is likely to be, so a small estimated error means high confidence.</a:t>
            </a:r>
          </a:p>
          <a:p>
            <a:pPr algn="l">
              <a:spcAft>
                <a:spcPts val="1300"/>
              </a:spcAft>
            </a:pPr>
            <a:r>
              <a:rPr sz="2000" b="1" dirty="0">
                <a:solidFill>
                  <a:srgbClr val="000000"/>
                </a:solidFill>
                <a:latin typeface="Arial"/>
              </a:rPr>
              <a:t>Most confident 10</a:t>
            </a:r>
            <a:r>
              <a:rPr lang="en-US" sz="2000" b="1" dirty="0">
                <a:solidFill>
                  <a:srgbClr val="000000"/>
                </a:solidFill>
                <a:latin typeface="Arial"/>
              </a:rPr>
              <a:t>% </a:t>
            </a:r>
            <a:r>
              <a:rPr sz="2000" b="1" dirty="0">
                <a:solidFill>
                  <a:srgbClr val="000000"/>
                </a:solidFill>
                <a:latin typeface="Arial"/>
              </a:rPr>
              <a:t>(or 25</a:t>
            </a:r>
            <a:r>
              <a:rPr lang="en-US" sz="2000" b="1" dirty="0">
                <a:solidFill>
                  <a:srgbClr val="000000"/>
                </a:solidFill>
                <a:latin typeface="Arial"/>
              </a:rPr>
              <a:t>%</a:t>
            </a:r>
            <a:r>
              <a:rPr sz="2000" b="1" dirty="0">
                <a:solidFill>
                  <a:srgbClr val="000000"/>
                </a:solidFill>
                <a:latin typeface="Arial"/>
              </a:rPr>
              <a:t>, or 50</a:t>
            </a:r>
            <a:r>
              <a:rPr lang="en-US" sz="2000" b="1" dirty="0">
                <a:solidFill>
                  <a:srgbClr val="000000"/>
                </a:solidFill>
                <a:latin typeface="Arial"/>
              </a:rPr>
              <a:t>%</a:t>
            </a:r>
            <a:r>
              <a:rPr sz="2000" b="1" dirty="0">
                <a:solidFill>
                  <a:srgbClr val="000000"/>
                </a:solidFill>
                <a:latin typeface="Arial"/>
              </a:rPr>
              <a:t>):  </a:t>
            </a:r>
            <a:r>
              <a:rPr sz="2000" b="0" dirty="0">
                <a:solidFill>
                  <a:srgbClr val="000000"/>
                </a:solidFill>
                <a:latin typeface="Arial"/>
              </a:rPr>
              <a:t>the fraction of predictions with the smallest estimated error. Keeping only those gives much higher accuracy.</a:t>
            </a:r>
          </a:p>
          <a:p>
            <a:pPr algn="l">
              <a:spcAft>
                <a:spcPts val="1300"/>
              </a:spcAft>
            </a:pPr>
            <a:r>
              <a:rPr sz="2000" b="1" dirty="0">
                <a:solidFill>
                  <a:srgbClr val="000000"/>
                </a:solidFill>
                <a:latin typeface="Arial"/>
              </a:rPr>
              <a:t>Uncertainty interval:  </a:t>
            </a:r>
            <a:r>
              <a:rPr sz="2000" b="0" dirty="0">
                <a:solidFill>
                  <a:srgbClr val="000000"/>
                </a:solidFill>
                <a:latin typeface="Arial"/>
              </a:rPr>
              <a:t>instead of a single number, the model returns a range of </a:t>
            </a:r>
            <a:r>
              <a:rPr sz="2000" b="0" dirty="0" err="1">
                <a:solidFill>
                  <a:srgbClr val="000000"/>
                </a:solidFill>
                <a:latin typeface="Arial"/>
              </a:rPr>
              <a:t>logD</a:t>
            </a:r>
            <a:r>
              <a:rPr sz="2000" b="0" dirty="0">
                <a:solidFill>
                  <a:srgbClr val="000000"/>
                </a:solidFill>
                <a:latin typeface="Arial"/>
              </a:rPr>
              <a:t> values for each prediction.</a:t>
            </a:r>
          </a:p>
          <a:p>
            <a:pPr algn="l">
              <a:spcAft>
                <a:spcPts val="1300"/>
              </a:spcAft>
            </a:pPr>
            <a:r>
              <a:rPr sz="2000" b="1" dirty="0">
                <a:solidFill>
                  <a:srgbClr val="000000"/>
                </a:solidFill>
                <a:latin typeface="Arial"/>
              </a:rPr>
              <a:t>90 percent interval:  </a:t>
            </a:r>
            <a:r>
              <a:rPr sz="2000" b="0" dirty="0">
                <a:solidFill>
                  <a:srgbClr val="000000"/>
                </a:solidFill>
                <a:latin typeface="Arial"/>
              </a:rPr>
              <a:t>a range built to contain the true </a:t>
            </a:r>
            <a:r>
              <a:rPr sz="2000" b="0" dirty="0" err="1">
                <a:solidFill>
                  <a:srgbClr val="000000"/>
                </a:solidFill>
                <a:latin typeface="Arial"/>
              </a:rPr>
              <a:t>logD</a:t>
            </a:r>
            <a:r>
              <a:rPr sz="2000" b="0" dirty="0">
                <a:solidFill>
                  <a:srgbClr val="000000"/>
                </a:solidFill>
                <a:latin typeface="Arial"/>
              </a:rPr>
              <a:t> about 90 percent of the time. An 80 percent interval is narrower and contains it about 80 percent of the time.</a:t>
            </a:r>
          </a:p>
          <a:p>
            <a:pPr algn="l">
              <a:spcAft>
                <a:spcPts val="1300"/>
              </a:spcAft>
            </a:pPr>
            <a:r>
              <a:rPr sz="2000" b="1" dirty="0">
                <a:solidFill>
                  <a:srgbClr val="000000"/>
                </a:solidFill>
                <a:latin typeface="Arial"/>
              </a:rPr>
              <a:t>Coverage:  </a:t>
            </a:r>
            <a:r>
              <a:rPr sz="2000" b="0" dirty="0">
                <a:solidFill>
                  <a:srgbClr val="000000"/>
                </a:solidFill>
                <a:latin typeface="Arial"/>
              </a:rPr>
              <a:t>the fraction of points whose true value lands inside the interval. We measured 0.89 to 0.90 against the 90 </a:t>
            </a:r>
            <a:r>
              <a:rPr lang="en-US" sz="2000" b="0" dirty="0">
                <a:solidFill>
                  <a:srgbClr val="000000"/>
                </a:solidFill>
                <a:latin typeface="Arial"/>
              </a:rPr>
              <a:t>percent </a:t>
            </a:r>
            <a:r>
              <a:rPr sz="2000" b="0" dirty="0">
                <a:solidFill>
                  <a:srgbClr val="000000"/>
                </a:solidFill>
                <a:latin typeface="Arial"/>
              </a:rPr>
              <a:t>target, so the ranges are honest.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7200"/>
            <a:ext cx="10972800" cy="914400"/>
          </a:xfrm>
          <a:prstGeom prst="rect">
            <a:avLst/>
          </a:prstGeom>
          <a:noFill/>
        </p:spPr>
        <p:txBody>
          <a:bodyPr wrap="square" lIns="0" tIns="0" rIns="0" bIns="0">
            <a:spAutoFit/>
          </a:bodyPr>
          <a:lstStyle/>
          <a:p>
            <a:pPr algn="l">
              <a:spcAft>
                <a:spcPts val="600"/>
              </a:spcAft>
            </a:pPr>
            <a:r>
              <a:rPr sz="2900" b="1" i="0">
                <a:solidFill>
                  <a:srgbClr val="000000"/>
                </a:solidFill>
                <a:latin typeface="Arial"/>
              </a:rPr>
              <a:t>What a 90 percent interval means</a:t>
            </a:r>
          </a:p>
        </p:txBody>
      </p:sp>
      <p:sp>
        <p:nvSpPr>
          <p:cNvPr id="3" name="TextBox 2"/>
          <p:cNvSpPr txBox="1"/>
          <p:nvPr/>
        </p:nvSpPr>
        <p:spPr>
          <a:xfrm>
            <a:off x="640080" y="1280160"/>
            <a:ext cx="10972800" cy="1783080"/>
          </a:xfrm>
          <a:prstGeom prst="rect">
            <a:avLst/>
          </a:prstGeom>
          <a:noFill/>
        </p:spPr>
        <p:txBody>
          <a:bodyPr wrap="square" lIns="0" tIns="0" rIns="0" bIns="0">
            <a:spAutoFit/>
          </a:bodyPr>
          <a:lstStyle/>
          <a:p>
            <a:pPr algn="l">
              <a:spcAft>
                <a:spcPts val="800"/>
              </a:spcAft>
            </a:pPr>
            <a:r>
              <a:rPr sz="1500" b="0" i="0">
                <a:solidFill>
                  <a:srgbClr val="000000"/>
                </a:solidFill>
                <a:latin typeface="Arial"/>
              </a:rPr>
              <a:t>The model gives a range, not just a single number. For example, it might predict a logD of 1.5 and report that it is 90 percent sure the true value is between 0.6 and 2.4. Across many predictions, each with its own 90 percent range, the true value should land inside about 90 times out of 100, while an 80 percent range is narrower and contains it about 80 times out of 100.</a:t>
            </a:r>
          </a:p>
          <a:p>
            <a:pPr algn="l">
              <a:spcAft>
                <a:spcPts val="600"/>
              </a:spcAft>
            </a:pPr>
            <a:r>
              <a:rPr sz="1500" b="0" i="0">
                <a:solidFill>
                  <a:srgbClr val="000000"/>
                </a:solidFill>
                <a:latin typeface="Arial"/>
              </a:rPr>
              <a:t>Coverage is how often this actually happens. Checking every range against the real value, the true logD landed inside the 90 percent range 89 to 90 percent of the time, right on target, which is what it means to say the ranges are honest.</a:t>
            </a:r>
          </a:p>
        </p:txBody>
      </p:sp>
      <p:pic>
        <p:nvPicPr>
          <p:cNvPr id="4" name="Picture 3" descr="coverage_illustration.png"/>
          <p:cNvPicPr>
            <a:picLocks noChangeAspect="1"/>
          </p:cNvPicPr>
          <p:nvPr/>
        </p:nvPicPr>
        <p:blipFill>
          <a:blip r:embed="rId2"/>
          <a:stretch>
            <a:fillRect/>
          </a:stretch>
        </p:blipFill>
        <p:spPr>
          <a:xfrm>
            <a:off x="3219269" y="3154680"/>
            <a:ext cx="5753155" cy="3429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72800" cy="914400"/>
          </a:xfrm>
          <a:prstGeom prst="rect">
            <a:avLst/>
          </a:prstGeom>
          <a:noFill/>
        </p:spPr>
        <p:txBody>
          <a:bodyPr wrap="square" lIns="0" tIns="0" rIns="0" bIns="0">
            <a:spAutoFit/>
          </a:bodyPr>
          <a:lstStyle/>
          <a:p>
            <a:pPr algn="l">
              <a:spcAft>
                <a:spcPts val="600"/>
              </a:spcAft>
            </a:pPr>
            <a:r>
              <a:rPr sz="2900" b="1" i="0">
                <a:solidFill>
                  <a:srgbClr val="000000"/>
                </a:solidFill>
                <a:latin typeface="Arial"/>
              </a:rPr>
              <a:t>Accuracy versus confidence, Track A</a:t>
            </a:r>
          </a:p>
        </p:txBody>
      </p:sp>
      <p:pic>
        <p:nvPicPr>
          <p:cNvPr id="3" name="Picture 2" descr="confidence_curve_a.png"/>
          <p:cNvPicPr>
            <a:picLocks noChangeAspect="1"/>
          </p:cNvPicPr>
          <p:nvPr/>
        </p:nvPicPr>
        <p:blipFill>
          <a:blip r:embed="rId2"/>
          <a:stretch>
            <a:fillRect/>
          </a:stretch>
        </p:blipFill>
        <p:spPr>
          <a:xfrm>
            <a:off x="792327" y="1508760"/>
            <a:ext cx="10607040" cy="3787693"/>
          </a:xfrm>
          <a:prstGeom prst="rect">
            <a:avLst/>
          </a:prstGeom>
        </p:spPr>
      </p:pic>
      <p:sp>
        <p:nvSpPr>
          <p:cNvPr id="4" name="TextBox 3"/>
          <p:cNvSpPr txBox="1"/>
          <p:nvPr/>
        </p:nvSpPr>
        <p:spPr>
          <a:xfrm>
            <a:off x="640080" y="5442757"/>
            <a:ext cx="10881360" cy="600164"/>
          </a:xfrm>
          <a:prstGeom prst="rect">
            <a:avLst/>
          </a:prstGeom>
          <a:noFill/>
        </p:spPr>
        <p:txBody>
          <a:bodyPr wrap="square" lIns="0" tIns="0" rIns="0" bIns="0">
            <a:spAutoFit/>
          </a:bodyPr>
          <a:lstStyle/>
          <a:p>
            <a:pPr algn="l">
              <a:spcAft>
                <a:spcPts val="600"/>
              </a:spcAft>
            </a:pPr>
            <a:r>
              <a:rPr sz="1300" b="0" dirty="0">
                <a:latin typeface="Arial"/>
              </a:rPr>
              <a:t>Moving right to left keeps fewer but more confident predictions. The most confident t</a:t>
            </a:r>
            <a:r>
              <a:rPr lang="en-US" sz="1300" b="0" dirty="0">
                <a:latin typeface="Arial"/>
              </a:rPr>
              <a:t>enth</a:t>
            </a:r>
            <a:r>
              <a:rPr sz="1300" b="0" dirty="0">
                <a:latin typeface="Arial"/>
              </a:rPr>
              <a:t> (the tenth with the smallest estimated error) reaches R-squared 0.912 and RMSE 0.493, against 0.466 and 1.148 over all predictions.</a:t>
            </a:r>
            <a:r>
              <a:rPr lang="en-US" sz="1300" b="0" dirty="0">
                <a:latin typeface="Arial"/>
              </a:rPr>
              <a:t> While this does limit the amount of extractants let through, the high R-squared means that there is still a wide range and that the model is confident across a wide range of metals and extractant types.</a:t>
            </a:r>
            <a:endParaRPr sz="1300" b="0" dirty="0">
              <a:latin typeface="Arial"/>
            </a:endParaRPr>
          </a:p>
        </p:txBody>
      </p:sp>
      <p:pic>
        <p:nvPicPr>
          <p:cNvPr id="5" name="Picture 4" descr="confidence_curve_a.png">
            <a:extLst>
              <a:ext uri="{FF2B5EF4-FFF2-40B4-BE49-F238E27FC236}">
                <a16:creationId xmlns:a16="http://schemas.microsoft.com/office/drawing/2014/main" id="{780CF7F4-DFCC-F512-7AA3-AA49F13273E3}"/>
              </a:ext>
            </a:extLst>
          </p:cNvPr>
          <p:cNvPicPr>
            <a:picLocks noChangeAspect="1"/>
          </p:cNvPicPr>
          <p:nvPr/>
        </p:nvPicPr>
        <p:blipFill>
          <a:blip r:embed="rId3"/>
          <a:stretch>
            <a:fillRect/>
          </a:stretch>
        </p:blipFill>
        <p:spPr>
          <a:xfrm>
            <a:off x="792327" y="1508759"/>
            <a:ext cx="10607040" cy="378769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72800" cy="914400"/>
          </a:xfrm>
          <a:prstGeom prst="rect">
            <a:avLst/>
          </a:prstGeom>
          <a:noFill/>
        </p:spPr>
        <p:txBody>
          <a:bodyPr wrap="square" lIns="0" tIns="0" rIns="0" bIns="0">
            <a:spAutoFit/>
          </a:bodyPr>
          <a:lstStyle/>
          <a:p>
            <a:pPr algn="l">
              <a:spcAft>
                <a:spcPts val="600"/>
              </a:spcAft>
            </a:pPr>
            <a:r>
              <a:rPr sz="2900" b="1" i="0">
                <a:solidFill>
                  <a:srgbClr val="000000"/>
                </a:solidFill>
                <a:latin typeface="Arial"/>
              </a:rPr>
              <a:t>Accuracy versus confidence, Track B</a:t>
            </a:r>
          </a:p>
        </p:txBody>
      </p:sp>
      <p:pic>
        <p:nvPicPr>
          <p:cNvPr id="3" name="Picture 2" descr="confidence_curve_b.png"/>
          <p:cNvPicPr>
            <a:picLocks noChangeAspect="1"/>
          </p:cNvPicPr>
          <p:nvPr/>
        </p:nvPicPr>
        <p:blipFill>
          <a:blip/>
          <a:stretch>
            <a:fillRect/>
          </a:stretch>
        </p:blipFill>
        <p:spPr>
          <a:xfrm>
            <a:off x="792327" y="1508760"/>
            <a:ext cx="10607040" cy="3787693"/>
          </a:xfrm>
          <a:prstGeom prst="rect">
            <a:avLst/>
          </a:prstGeom>
        </p:spPr>
      </p:pic>
      <p:sp>
        <p:nvSpPr>
          <p:cNvPr id="4" name="TextBox 3"/>
          <p:cNvSpPr txBox="1"/>
          <p:nvPr/>
        </p:nvSpPr>
        <p:spPr>
          <a:xfrm>
            <a:off x="640080" y="5442757"/>
            <a:ext cx="10881360" cy="400110"/>
          </a:xfrm>
          <a:prstGeom prst="rect">
            <a:avLst/>
          </a:prstGeom>
          <a:noFill/>
        </p:spPr>
        <p:txBody>
          <a:bodyPr wrap="square" lIns="0" tIns="0" rIns="0" bIns="0">
            <a:spAutoFit/>
          </a:bodyPr>
          <a:lstStyle/>
          <a:p>
            <a:pPr algn="l">
              <a:spcAft>
                <a:spcPts val="600"/>
              </a:spcAft>
            </a:pPr>
            <a:r>
              <a:rPr sz="1300" b="0" dirty="0">
                <a:latin typeface="Arial"/>
              </a:rPr>
              <a:t>The same pattern holds for condition optimization: the most confident tenth reaches R-squared 0.940 and RMSE 0.341, against 0.725 and 0.823 over all predictions.</a:t>
            </a:r>
          </a:p>
        </p:txBody>
      </p:sp>
      <p:pic>
        <p:nvPicPr>
          <p:cNvPr id="5" name="Picture 4" descr="confidence_curve_b.png">
            <a:extLst>
              <a:ext uri="{FF2B5EF4-FFF2-40B4-BE49-F238E27FC236}">
                <a16:creationId xmlns:a16="http://schemas.microsoft.com/office/drawing/2014/main" id="{1CAAA482-54EC-725C-B3C1-A1876ACFE37D}"/>
              </a:ext>
            </a:extLst>
          </p:cNvPr>
          <p:cNvPicPr>
            <a:picLocks noChangeAspect="1"/>
          </p:cNvPicPr>
          <p:nvPr/>
        </p:nvPicPr>
        <p:blipFill>
          <a:blip r:embed="rId2"/>
          <a:stretch>
            <a:fillRect/>
          </a:stretch>
        </p:blipFill>
        <p:spPr>
          <a:xfrm>
            <a:off x="777240" y="1508760"/>
            <a:ext cx="10607040" cy="378769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72800" cy="914400"/>
          </a:xfrm>
          <a:prstGeom prst="rect">
            <a:avLst/>
          </a:prstGeom>
          <a:noFill/>
        </p:spPr>
        <p:txBody>
          <a:bodyPr wrap="square" lIns="0" tIns="0" rIns="0" bIns="0">
            <a:spAutoFit/>
          </a:bodyPr>
          <a:lstStyle/>
          <a:p>
            <a:pPr algn="l">
              <a:spcAft>
                <a:spcPts val="600"/>
              </a:spcAft>
            </a:pPr>
            <a:r>
              <a:rPr sz="2900" b="1" i="0">
                <a:solidFill>
                  <a:srgbClr val="000000"/>
                </a:solidFill>
                <a:latin typeface="Arial"/>
              </a:rPr>
              <a:t>Predicted versus actual logD</a:t>
            </a:r>
          </a:p>
        </p:txBody>
      </p:sp>
      <p:pic>
        <p:nvPicPr>
          <p:cNvPr id="3" name="Picture 2" descr="pred_vs_actual_a.png"/>
          <p:cNvPicPr>
            <a:picLocks noChangeAspect="1"/>
          </p:cNvPicPr>
          <p:nvPr/>
        </p:nvPicPr>
        <p:blipFill>
          <a:blip/>
          <a:stretch>
            <a:fillRect/>
          </a:stretch>
        </p:blipFill>
        <p:spPr>
          <a:xfrm>
            <a:off x="1097280" y="1600200"/>
            <a:ext cx="4722725" cy="4297680"/>
          </a:xfrm>
          <a:prstGeom prst="rect">
            <a:avLst/>
          </a:prstGeom>
        </p:spPr>
      </p:pic>
      <p:pic>
        <p:nvPicPr>
          <p:cNvPr id="4" name="Picture 3" descr="pred_vs_actual_b.png"/>
          <p:cNvPicPr>
            <a:picLocks noChangeAspect="1"/>
          </p:cNvPicPr>
          <p:nvPr/>
        </p:nvPicPr>
        <p:blipFill>
          <a:blip/>
          <a:stretch>
            <a:fillRect/>
          </a:stretch>
        </p:blipFill>
        <p:spPr>
          <a:xfrm>
            <a:off x="6309360" y="1600200"/>
            <a:ext cx="4796939" cy="4297680"/>
          </a:xfrm>
          <a:prstGeom prst="rect">
            <a:avLst/>
          </a:prstGeom>
        </p:spPr>
      </p:pic>
      <p:sp>
        <p:nvSpPr>
          <p:cNvPr id="5" name="TextBox 4"/>
          <p:cNvSpPr txBox="1"/>
          <p:nvPr/>
        </p:nvSpPr>
        <p:spPr>
          <a:xfrm>
            <a:off x="640080" y="6080760"/>
            <a:ext cx="10881360" cy="400110"/>
          </a:xfrm>
          <a:prstGeom prst="rect">
            <a:avLst/>
          </a:prstGeom>
          <a:noFill/>
        </p:spPr>
        <p:txBody>
          <a:bodyPr wrap="square" lIns="0" tIns="0" rIns="0" bIns="0">
            <a:spAutoFit/>
          </a:bodyPr>
          <a:lstStyle/>
          <a:p>
            <a:pPr algn="l">
              <a:spcAft>
                <a:spcPts val="600"/>
              </a:spcAft>
            </a:pPr>
            <a:r>
              <a:rPr sz="1300" b="0" dirty="0">
                <a:latin typeface="Arial"/>
              </a:rPr>
              <a:t>Left: Track A, new molecules. Right: Track B, known molecules. Each point is a prediction; darker points are the more confident ones and lie closer to the diagonal, where predicted equals actual.</a:t>
            </a:r>
          </a:p>
        </p:txBody>
      </p:sp>
      <p:pic>
        <p:nvPicPr>
          <p:cNvPr id="6" name="Picture 5" descr="pred_vs_actual_a.png">
            <a:extLst>
              <a:ext uri="{FF2B5EF4-FFF2-40B4-BE49-F238E27FC236}">
                <a16:creationId xmlns:a16="http://schemas.microsoft.com/office/drawing/2014/main" id="{DA673783-56C5-3201-5BF2-47762742DE8C}"/>
              </a:ext>
            </a:extLst>
          </p:cNvPr>
          <p:cNvPicPr>
            <a:picLocks noChangeAspect="1"/>
          </p:cNvPicPr>
          <p:nvPr/>
        </p:nvPicPr>
        <p:blipFill>
          <a:blip r:embed="rId2"/>
          <a:stretch>
            <a:fillRect/>
          </a:stretch>
        </p:blipFill>
        <p:spPr>
          <a:xfrm>
            <a:off x="1097280" y="1600200"/>
            <a:ext cx="4722725" cy="4297680"/>
          </a:xfrm>
          <a:prstGeom prst="rect">
            <a:avLst/>
          </a:prstGeom>
        </p:spPr>
      </p:pic>
      <p:pic>
        <p:nvPicPr>
          <p:cNvPr id="7" name="Picture 6" descr="pred_vs_actual_b.png">
            <a:extLst>
              <a:ext uri="{FF2B5EF4-FFF2-40B4-BE49-F238E27FC236}">
                <a16:creationId xmlns:a16="http://schemas.microsoft.com/office/drawing/2014/main" id="{ACD70676-435F-F79A-4408-20891521DC7D}"/>
              </a:ext>
            </a:extLst>
          </p:cNvPr>
          <p:cNvPicPr>
            <a:picLocks noChangeAspect="1"/>
          </p:cNvPicPr>
          <p:nvPr/>
        </p:nvPicPr>
        <p:blipFill>
          <a:blip r:embed="rId3"/>
          <a:stretch>
            <a:fillRect/>
          </a:stretch>
        </p:blipFill>
        <p:spPr>
          <a:xfrm>
            <a:off x="6309360" y="1600200"/>
            <a:ext cx="4796939" cy="42976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72800" cy="914400"/>
          </a:xfrm>
          <a:prstGeom prst="rect">
            <a:avLst/>
          </a:prstGeom>
          <a:noFill/>
        </p:spPr>
        <p:txBody>
          <a:bodyPr wrap="square" lIns="0" tIns="0" rIns="0" bIns="0">
            <a:spAutoFit/>
          </a:bodyPr>
          <a:lstStyle/>
          <a:p>
            <a:pPr algn="l">
              <a:spcAft>
                <a:spcPts val="600"/>
              </a:spcAft>
            </a:pPr>
            <a:r>
              <a:rPr sz="2900" b="1" i="0">
                <a:solidFill>
                  <a:srgbClr val="000000"/>
                </a:solidFill>
                <a:latin typeface="Arial"/>
              </a:rPr>
              <a:t>Accuracy by metal</a:t>
            </a:r>
          </a:p>
        </p:txBody>
      </p:sp>
      <p:pic>
        <p:nvPicPr>
          <p:cNvPr id="3" name="Picture 2" descr="by_metal_accuracy.png"/>
          <p:cNvPicPr>
            <a:picLocks noChangeAspect="1"/>
          </p:cNvPicPr>
          <p:nvPr/>
        </p:nvPicPr>
        <p:blipFill>
          <a:blip/>
          <a:stretch>
            <a:fillRect/>
          </a:stretch>
        </p:blipFill>
        <p:spPr>
          <a:xfrm>
            <a:off x="1270309" y="1508760"/>
            <a:ext cx="9651076" cy="4114800"/>
          </a:xfrm>
          <a:prstGeom prst="rect">
            <a:avLst/>
          </a:prstGeom>
        </p:spPr>
      </p:pic>
      <p:sp>
        <p:nvSpPr>
          <p:cNvPr id="4" name="TextBox 3"/>
          <p:cNvSpPr txBox="1"/>
          <p:nvPr/>
        </p:nvSpPr>
        <p:spPr>
          <a:xfrm>
            <a:off x="640080" y="5769864"/>
            <a:ext cx="10881360" cy="400110"/>
          </a:xfrm>
          <a:prstGeom prst="rect">
            <a:avLst/>
          </a:prstGeom>
          <a:noFill/>
        </p:spPr>
        <p:txBody>
          <a:bodyPr wrap="square" lIns="0" tIns="0" rIns="0" bIns="0">
            <a:spAutoFit/>
          </a:bodyPr>
          <a:lstStyle/>
          <a:p>
            <a:pPr algn="l">
              <a:spcAft>
                <a:spcPts val="600"/>
              </a:spcAft>
            </a:pPr>
            <a:r>
              <a:rPr sz="1300" b="0" dirty="0">
                <a:latin typeface="Arial"/>
              </a:rPr>
              <a:t>Accuracy is not uniform. It is highest on Americium and Curium and lowest on Neptunium(V), Erbium, and Uranium(VI), so a single overall number hides large differences between metals.</a:t>
            </a:r>
          </a:p>
        </p:txBody>
      </p:sp>
      <p:pic>
        <p:nvPicPr>
          <p:cNvPr id="5" name="Picture 4" descr="by_metal_accuracy.png">
            <a:extLst>
              <a:ext uri="{FF2B5EF4-FFF2-40B4-BE49-F238E27FC236}">
                <a16:creationId xmlns:a16="http://schemas.microsoft.com/office/drawing/2014/main" id="{4AC323C1-B6D1-FC85-D550-25DD5B289E72}"/>
              </a:ext>
            </a:extLst>
          </p:cNvPr>
          <p:cNvPicPr>
            <a:picLocks noChangeAspect="1"/>
          </p:cNvPicPr>
          <p:nvPr/>
        </p:nvPicPr>
        <p:blipFill>
          <a:blip r:embed="rId2"/>
          <a:stretch>
            <a:fillRect/>
          </a:stretch>
        </p:blipFill>
        <p:spPr>
          <a:xfrm>
            <a:off x="1255222" y="1463040"/>
            <a:ext cx="9651076" cy="4114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72800" cy="914400"/>
          </a:xfrm>
          <a:prstGeom prst="rect">
            <a:avLst/>
          </a:prstGeom>
          <a:noFill/>
        </p:spPr>
        <p:txBody>
          <a:bodyPr wrap="square" lIns="0" tIns="0" rIns="0" bIns="0">
            <a:spAutoFit/>
          </a:bodyPr>
          <a:lstStyle/>
          <a:p>
            <a:pPr algn="l">
              <a:spcAft>
                <a:spcPts val="600"/>
              </a:spcAft>
            </a:pPr>
            <a:r>
              <a:rPr sz="2900" b="1" i="0">
                <a:solidFill>
                  <a:srgbClr val="000000"/>
                </a:solidFill>
                <a:latin typeface="Arial"/>
              </a:rPr>
              <a:t>Confidence by metal</a:t>
            </a:r>
          </a:p>
        </p:txBody>
      </p:sp>
      <p:sp>
        <p:nvSpPr>
          <p:cNvPr id="4" name="TextBox 3"/>
          <p:cNvSpPr txBox="1"/>
          <p:nvPr/>
        </p:nvSpPr>
        <p:spPr>
          <a:xfrm>
            <a:off x="640080" y="5952744"/>
            <a:ext cx="10881360" cy="400110"/>
          </a:xfrm>
          <a:prstGeom prst="rect">
            <a:avLst/>
          </a:prstGeom>
          <a:noFill/>
        </p:spPr>
        <p:txBody>
          <a:bodyPr wrap="square" lIns="0" tIns="0" rIns="0" bIns="0">
            <a:spAutoFit/>
          </a:bodyPr>
          <a:lstStyle/>
          <a:p>
            <a:pPr algn="l">
              <a:spcAft>
                <a:spcPts val="600"/>
              </a:spcAft>
            </a:pPr>
            <a:r>
              <a:rPr sz="1300" b="0" dirty="0">
                <a:latin typeface="Arial"/>
              </a:rPr>
              <a:t>Each bar is the model's median estimated error for a metal, which is its confidence signal, so a shorter bar means it is more sure. The model is most confident on Americium and Curium and least confident on Neptunium(V), Uranium(VI), and Erbium.</a:t>
            </a:r>
          </a:p>
        </p:txBody>
      </p:sp>
      <p:pic>
        <p:nvPicPr>
          <p:cNvPr id="6" name="Picture 5" descr="confidence_per_metal.png">
            <a:extLst>
              <a:ext uri="{FF2B5EF4-FFF2-40B4-BE49-F238E27FC236}">
                <a16:creationId xmlns:a16="http://schemas.microsoft.com/office/drawing/2014/main" id="{F84C96E1-CFE3-96DF-AA24-DF51402024D1}"/>
              </a:ext>
            </a:extLst>
          </p:cNvPr>
          <p:cNvPicPr>
            <a:picLocks noChangeAspect="1"/>
          </p:cNvPicPr>
          <p:nvPr/>
        </p:nvPicPr>
        <p:blipFill>
          <a:blip r:embed="rId2"/>
          <a:stretch>
            <a:fillRect/>
          </a:stretch>
        </p:blipFill>
        <p:spPr>
          <a:xfrm>
            <a:off x="2338694" y="1280160"/>
            <a:ext cx="7575571" cy="42976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72800" cy="914400"/>
          </a:xfrm>
          <a:prstGeom prst="rect">
            <a:avLst/>
          </a:prstGeom>
          <a:noFill/>
        </p:spPr>
        <p:txBody>
          <a:bodyPr wrap="square" lIns="0" tIns="0" rIns="0" bIns="0">
            <a:spAutoFit/>
          </a:bodyPr>
          <a:lstStyle/>
          <a:p>
            <a:pPr algn="l">
              <a:spcAft>
                <a:spcPts val="600"/>
              </a:spcAft>
            </a:pPr>
            <a:r>
              <a:rPr sz="2900" b="1" i="0">
                <a:solidFill>
                  <a:srgbClr val="000000"/>
                </a:solidFill>
                <a:latin typeface="Arial"/>
              </a:rPr>
              <a:t>Confidence versus error, by metal</a:t>
            </a:r>
          </a:p>
        </p:txBody>
      </p:sp>
      <p:pic>
        <p:nvPicPr>
          <p:cNvPr id="3" name="Picture 2" descr="by_metal_confidence_vs_error.png"/>
          <p:cNvPicPr>
            <a:picLocks noChangeAspect="1"/>
          </p:cNvPicPr>
          <p:nvPr/>
        </p:nvPicPr>
        <p:blipFill>
          <a:blip/>
          <a:stretch>
            <a:fillRect/>
          </a:stretch>
        </p:blipFill>
        <p:spPr>
          <a:xfrm>
            <a:off x="3267777" y="1508760"/>
            <a:ext cx="5656139" cy="3931920"/>
          </a:xfrm>
          <a:prstGeom prst="rect">
            <a:avLst/>
          </a:prstGeom>
        </p:spPr>
      </p:pic>
      <p:sp>
        <p:nvSpPr>
          <p:cNvPr id="4" name="TextBox 3"/>
          <p:cNvSpPr txBox="1"/>
          <p:nvPr/>
        </p:nvSpPr>
        <p:spPr>
          <a:xfrm>
            <a:off x="640080" y="5586983"/>
            <a:ext cx="10881360" cy="400110"/>
          </a:xfrm>
          <a:prstGeom prst="rect">
            <a:avLst/>
          </a:prstGeom>
          <a:noFill/>
        </p:spPr>
        <p:txBody>
          <a:bodyPr wrap="square" lIns="0" tIns="0" rIns="0" bIns="0">
            <a:spAutoFit/>
          </a:bodyPr>
          <a:lstStyle/>
          <a:p>
            <a:pPr algn="l">
              <a:spcAft>
                <a:spcPts val="600"/>
              </a:spcAft>
            </a:pPr>
            <a:r>
              <a:rPr sz="1300" b="0" dirty="0">
                <a:latin typeface="Arial"/>
              </a:rPr>
              <a:t>The horizontal axis is the model's estimated error and the vertical axis is the actual error. They line up, so Americium and Curium sit low on both while Neptunium(V), Uranium(VI), and Erbium sit high on both, which is what lets the model flag the metals it cannot predict well.</a:t>
            </a:r>
          </a:p>
        </p:txBody>
      </p:sp>
      <p:pic>
        <p:nvPicPr>
          <p:cNvPr id="5" name="Picture 4" descr="by_metal_confidence_vs_error.png">
            <a:extLst>
              <a:ext uri="{FF2B5EF4-FFF2-40B4-BE49-F238E27FC236}">
                <a16:creationId xmlns:a16="http://schemas.microsoft.com/office/drawing/2014/main" id="{283F74EA-F96C-609A-D327-984C662D3F55}"/>
              </a:ext>
            </a:extLst>
          </p:cNvPr>
          <p:cNvPicPr>
            <a:picLocks noChangeAspect="1"/>
          </p:cNvPicPr>
          <p:nvPr/>
        </p:nvPicPr>
        <p:blipFill>
          <a:blip r:embed="rId2"/>
          <a:stretch>
            <a:fillRect/>
          </a:stretch>
        </p:blipFill>
        <p:spPr>
          <a:xfrm>
            <a:off x="3252690" y="1463040"/>
            <a:ext cx="5656139" cy="39319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72800" cy="914400"/>
          </a:xfrm>
          <a:prstGeom prst="rect">
            <a:avLst/>
          </a:prstGeom>
          <a:noFill/>
        </p:spPr>
        <p:txBody>
          <a:bodyPr wrap="square" lIns="0" tIns="0" rIns="0" bIns="0">
            <a:spAutoFit/>
          </a:bodyPr>
          <a:lstStyle/>
          <a:p>
            <a:pPr algn="l">
              <a:spcAft>
                <a:spcPts val="600"/>
              </a:spcAft>
            </a:pPr>
            <a:r>
              <a:rPr sz="2900" b="1" i="0">
                <a:solidFill>
                  <a:srgbClr val="000000"/>
                </a:solidFill>
                <a:latin typeface="Arial"/>
              </a:rPr>
              <a:t>Separation between metal pairs</a:t>
            </a:r>
          </a:p>
        </p:txBody>
      </p:sp>
      <p:sp>
        <p:nvSpPr>
          <p:cNvPr id="4" name="TextBox 3"/>
          <p:cNvSpPr txBox="1"/>
          <p:nvPr/>
        </p:nvSpPr>
        <p:spPr>
          <a:xfrm>
            <a:off x="640080" y="5769864"/>
            <a:ext cx="10881360" cy="400110"/>
          </a:xfrm>
          <a:prstGeom prst="rect">
            <a:avLst/>
          </a:prstGeom>
          <a:noFill/>
        </p:spPr>
        <p:txBody>
          <a:bodyPr wrap="square" lIns="0" tIns="0" rIns="0" bIns="0">
            <a:spAutoFit/>
          </a:bodyPr>
          <a:lstStyle/>
          <a:p>
            <a:pPr algn="l">
              <a:spcAft>
                <a:spcPts val="600"/>
              </a:spcAft>
            </a:pPr>
            <a:r>
              <a:rPr sz="1300" b="0" dirty="0">
                <a:latin typeface="Arial"/>
              </a:rPr>
              <a:t>A separation is the </a:t>
            </a:r>
            <a:r>
              <a:rPr sz="1300" b="0" dirty="0" err="1">
                <a:latin typeface="Arial"/>
              </a:rPr>
              <a:t>logD</a:t>
            </a:r>
            <a:r>
              <a:rPr sz="1300" b="0" dirty="0">
                <a:latin typeface="Arial"/>
              </a:rPr>
              <a:t> difference between two metals at the same conditions. Pairs far apart in </a:t>
            </a:r>
            <a:r>
              <a:rPr sz="1300" b="0" dirty="0" err="1">
                <a:latin typeface="Arial"/>
              </a:rPr>
              <a:t>logD</a:t>
            </a:r>
            <a:r>
              <a:rPr sz="1300" b="0" dirty="0">
                <a:latin typeface="Arial"/>
              </a:rPr>
              <a:t> such as Dysprosium and Ytterbium are predicted well, while tight adjacent pairs such as Erbium and Terbium are hardest, which is the case that matters most for industry.</a:t>
            </a:r>
          </a:p>
        </p:txBody>
      </p:sp>
      <p:pic>
        <p:nvPicPr>
          <p:cNvPr id="6" name="Picture 5" descr="by_metal_pair_separation.png">
            <a:extLst>
              <a:ext uri="{FF2B5EF4-FFF2-40B4-BE49-F238E27FC236}">
                <a16:creationId xmlns:a16="http://schemas.microsoft.com/office/drawing/2014/main" id="{AC9CE2D3-4DE8-D91C-9AA3-6066AFB7EF27}"/>
              </a:ext>
            </a:extLst>
          </p:cNvPr>
          <p:cNvPicPr>
            <a:picLocks noChangeAspect="1"/>
          </p:cNvPicPr>
          <p:nvPr/>
        </p:nvPicPr>
        <p:blipFill>
          <a:blip r:embed="rId2"/>
          <a:stretch>
            <a:fillRect/>
          </a:stretch>
        </p:blipFill>
        <p:spPr>
          <a:xfrm>
            <a:off x="900040" y="1508760"/>
            <a:ext cx="10391613" cy="4114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72800" cy="914400"/>
          </a:xfrm>
          <a:prstGeom prst="rect">
            <a:avLst/>
          </a:prstGeom>
          <a:noFill/>
        </p:spPr>
        <p:txBody>
          <a:bodyPr wrap="square" lIns="0" tIns="0" rIns="0" bIns="0">
            <a:spAutoFit/>
          </a:bodyPr>
          <a:lstStyle/>
          <a:p>
            <a:pPr algn="l">
              <a:spcAft>
                <a:spcPts val="600"/>
              </a:spcAft>
            </a:pPr>
            <a:r>
              <a:rPr sz="2900" b="1" i="0">
                <a:solidFill>
                  <a:srgbClr val="000000"/>
                </a:solidFill>
                <a:latin typeface="Arial"/>
              </a:rPr>
              <a:t>Confidence by metal pair</a:t>
            </a:r>
          </a:p>
        </p:txBody>
      </p:sp>
      <p:sp>
        <p:nvSpPr>
          <p:cNvPr id="4" name="TextBox 3"/>
          <p:cNvSpPr txBox="1"/>
          <p:nvPr/>
        </p:nvSpPr>
        <p:spPr>
          <a:xfrm>
            <a:off x="640080" y="5586983"/>
            <a:ext cx="10881360" cy="400110"/>
          </a:xfrm>
          <a:prstGeom prst="rect">
            <a:avLst/>
          </a:prstGeom>
          <a:noFill/>
        </p:spPr>
        <p:txBody>
          <a:bodyPr wrap="square" lIns="0" tIns="0" rIns="0" bIns="0">
            <a:spAutoFit/>
          </a:bodyPr>
          <a:lstStyle/>
          <a:p>
            <a:pPr algn="l">
              <a:spcAft>
                <a:spcPts val="600"/>
              </a:spcAft>
            </a:pPr>
            <a:r>
              <a:rPr sz="1300" b="0" dirty="0">
                <a:latin typeface="Arial"/>
              </a:rPr>
              <a:t>Confidence behaves the same way on pairs: the model's estimated error for a pair lines up with the actual separation error, so it is most confident on the easy far-apart pairs and least confident on hard adjacent pairs such as Erbium and Terbium.</a:t>
            </a:r>
          </a:p>
        </p:txBody>
      </p:sp>
      <p:pic>
        <p:nvPicPr>
          <p:cNvPr id="5" name="Picture 4" descr="by_pair_confidence_vs_error.png">
            <a:extLst>
              <a:ext uri="{FF2B5EF4-FFF2-40B4-BE49-F238E27FC236}">
                <a16:creationId xmlns:a16="http://schemas.microsoft.com/office/drawing/2014/main" id="{3D025206-26FD-ADD5-0E10-E88357B03EEC}"/>
              </a:ext>
            </a:extLst>
          </p:cNvPr>
          <p:cNvPicPr>
            <a:picLocks noChangeAspect="1"/>
          </p:cNvPicPr>
          <p:nvPr/>
        </p:nvPicPr>
        <p:blipFill>
          <a:blip r:embed="rId2"/>
          <a:stretch>
            <a:fillRect/>
          </a:stretch>
        </p:blipFill>
        <p:spPr>
          <a:xfrm>
            <a:off x="2713804" y="1463040"/>
            <a:ext cx="6733912" cy="39319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72800" cy="914400"/>
          </a:xfrm>
          <a:prstGeom prst="rect">
            <a:avLst/>
          </a:prstGeom>
          <a:noFill/>
        </p:spPr>
        <p:txBody>
          <a:bodyPr wrap="square" lIns="0" tIns="0" rIns="0" bIns="0">
            <a:spAutoFit/>
          </a:bodyPr>
          <a:lstStyle/>
          <a:p>
            <a:pPr algn="l">
              <a:spcAft>
                <a:spcPts val="600"/>
              </a:spcAft>
            </a:pPr>
            <a:r>
              <a:rPr sz="2900" b="1" i="0">
                <a:solidFill>
                  <a:srgbClr val="000000"/>
                </a:solidFill>
                <a:latin typeface="Arial"/>
              </a:rPr>
              <a:t>Ensemble weights</a:t>
            </a:r>
          </a:p>
        </p:txBody>
      </p:sp>
      <p:sp>
        <p:nvSpPr>
          <p:cNvPr id="4" name="TextBox 3"/>
          <p:cNvSpPr txBox="1"/>
          <p:nvPr/>
        </p:nvSpPr>
        <p:spPr>
          <a:xfrm>
            <a:off x="640080" y="5450243"/>
            <a:ext cx="10881360" cy="400110"/>
          </a:xfrm>
          <a:prstGeom prst="rect">
            <a:avLst/>
          </a:prstGeom>
          <a:noFill/>
        </p:spPr>
        <p:txBody>
          <a:bodyPr wrap="square" lIns="0" tIns="0" rIns="0" bIns="0">
            <a:spAutoFit/>
          </a:bodyPr>
          <a:lstStyle/>
          <a:p>
            <a:pPr algn="l">
              <a:spcAft>
                <a:spcPts val="600"/>
              </a:spcAft>
            </a:pPr>
            <a:r>
              <a:rPr sz="1300" b="0" dirty="0">
                <a:latin typeface="Arial"/>
              </a:rPr>
              <a:t>Non-negative least squares keeps only the members that help, leaving </a:t>
            </a:r>
            <a:r>
              <a:rPr sz="1300" b="0" dirty="0" err="1">
                <a:latin typeface="Arial"/>
              </a:rPr>
              <a:t>ExtraTrees</a:t>
            </a:r>
            <a:r>
              <a:rPr sz="1300" b="0" dirty="0">
                <a:latin typeface="Arial"/>
              </a:rPr>
              <a:t>, </a:t>
            </a:r>
            <a:r>
              <a:rPr sz="1300" b="0" dirty="0" err="1">
                <a:latin typeface="Arial"/>
              </a:rPr>
              <a:t>LightGBM</a:t>
            </a:r>
            <a:r>
              <a:rPr sz="1300" b="0" dirty="0">
                <a:latin typeface="Arial"/>
              </a:rPr>
              <a:t>, and </a:t>
            </a:r>
            <a:r>
              <a:rPr sz="1300" b="0" dirty="0" err="1">
                <a:latin typeface="Arial"/>
              </a:rPr>
              <a:t>XGBoost</a:t>
            </a:r>
            <a:r>
              <a:rPr sz="1300" b="0" dirty="0">
                <a:latin typeface="Arial"/>
              </a:rPr>
              <a:t> on Track B and dropping the rest to a weight of zero.</a:t>
            </a:r>
          </a:p>
        </p:txBody>
      </p:sp>
      <p:pic>
        <p:nvPicPr>
          <p:cNvPr id="5" name="Picture 4" descr="ensemble_weights.png">
            <a:extLst>
              <a:ext uri="{FF2B5EF4-FFF2-40B4-BE49-F238E27FC236}">
                <a16:creationId xmlns:a16="http://schemas.microsoft.com/office/drawing/2014/main" id="{58628BC8-28D0-672B-2CAF-440E82BBACC0}"/>
              </a:ext>
            </a:extLst>
          </p:cNvPr>
          <p:cNvPicPr>
            <a:picLocks noChangeAspect="1"/>
          </p:cNvPicPr>
          <p:nvPr/>
        </p:nvPicPr>
        <p:blipFill>
          <a:blip r:embed="rId2"/>
          <a:stretch>
            <a:fillRect/>
          </a:stretch>
        </p:blipFill>
        <p:spPr>
          <a:xfrm>
            <a:off x="792327" y="1508760"/>
            <a:ext cx="10607040" cy="379517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72800" cy="914400"/>
          </a:xfrm>
          <a:prstGeom prst="rect">
            <a:avLst/>
          </a:prstGeom>
          <a:noFill/>
        </p:spPr>
        <p:txBody>
          <a:bodyPr wrap="square" lIns="0" tIns="0" rIns="0" bIns="0">
            <a:spAutoFit/>
          </a:bodyPr>
          <a:lstStyle/>
          <a:p>
            <a:pPr algn="l">
              <a:spcAft>
                <a:spcPts val="600"/>
              </a:spcAft>
            </a:pPr>
            <a:r>
              <a:rPr sz="2900" b="1" i="0">
                <a:solidFill>
                  <a:srgbClr val="000000"/>
                </a:solidFill>
                <a:latin typeface="Arial"/>
              </a:rPr>
              <a:t>Uncertainty intervals</a:t>
            </a:r>
          </a:p>
        </p:txBody>
      </p:sp>
      <p:sp>
        <p:nvSpPr>
          <p:cNvPr id="4" name="TextBox 3"/>
          <p:cNvSpPr txBox="1"/>
          <p:nvPr/>
        </p:nvSpPr>
        <p:spPr>
          <a:xfrm>
            <a:off x="640080" y="5450243"/>
            <a:ext cx="10881360" cy="600164"/>
          </a:xfrm>
          <a:prstGeom prst="rect">
            <a:avLst/>
          </a:prstGeom>
          <a:noFill/>
        </p:spPr>
        <p:txBody>
          <a:bodyPr wrap="square" lIns="0" tIns="0" rIns="0" bIns="0">
            <a:spAutoFit/>
          </a:bodyPr>
          <a:lstStyle/>
          <a:p>
            <a:pPr algn="l">
              <a:spcAft>
                <a:spcPts val="600"/>
              </a:spcAft>
            </a:pPr>
            <a:r>
              <a:rPr sz="1300" b="0" dirty="0">
                <a:latin typeface="Arial"/>
              </a:rPr>
              <a:t>Each prediction comes with a range. A 90 percent interval is built to contain the true </a:t>
            </a:r>
            <a:r>
              <a:rPr sz="1300" b="0" dirty="0" err="1">
                <a:latin typeface="Arial"/>
              </a:rPr>
              <a:t>logD</a:t>
            </a:r>
            <a:r>
              <a:rPr sz="1300" b="0" dirty="0">
                <a:latin typeface="Arial"/>
              </a:rPr>
              <a:t> about 90 percent of the time, an 80 percent interval about 80 percent. The left bars show the measured coverage (0.89 to 0.90 and 0.79 to 0.80), so the ranges are honest; the right bars show the typical width, narrower on Track B.</a:t>
            </a:r>
          </a:p>
        </p:txBody>
      </p:sp>
      <p:pic>
        <p:nvPicPr>
          <p:cNvPr id="5" name="Picture 4" descr="conformal_calibration.png">
            <a:extLst>
              <a:ext uri="{FF2B5EF4-FFF2-40B4-BE49-F238E27FC236}">
                <a16:creationId xmlns:a16="http://schemas.microsoft.com/office/drawing/2014/main" id="{B139F448-0E3B-CBF2-AB95-4AD76C8E8E11}"/>
              </a:ext>
            </a:extLst>
          </p:cNvPr>
          <p:cNvPicPr>
            <a:picLocks noChangeAspect="1"/>
          </p:cNvPicPr>
          <p:nvPr/>
        </p:nvPicPr>
        <p:blipFill>
          <a:blip r:embed="rId2"/>
          <a:stretch>
            <a:fillRect/>
          </a:stretch>
        </p:blipFill>
        <p:spPr>
          <a:xfrm>
            <a:off x="792327" y="1508760"/>
            <a:ext cx="10607040" cy="379517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72800" cy="914400"/>
          </a:xfrm>
          <a:prstGeom prst="rect">
            <a:avLst/>
          </a:prstGeom>
          <a:noFill/>
        </p:spPr>
        <p:txBody>
          <a:bodyPr wrap="square" lIns="0" tIns="0" rIns="0" bIns="0">
            <a:spAutoFit/>
          </a:bodyPr>
          <a:lstStyle/>
          <a:p>
            <a:pPr algn="l">
              <a:spcAft>
                <a:spcPts val="600"/>
              </a:spcAft>
            </a:pPr>
            <a:r>
              <a:rPr sz="2900" b="1" i="0">
                <a:solidFill>
                  <a:srgbClr val="000000"/>
                </a:solidFill>
                <a:latin typeface="Arial"/>
              </a:rPr>
              <a:t>Comparison with Dr. Zhang's model</a:t>
            </a:r>
          </a:p>
        </p:txBody>
      </p:sp>
      <p:sp>
        <p:nvSpPr>
          <p:cNvPr id="3" name="TextBox 2"/>
          <p:cNvSpPr txBox="1"/>
          <p:nvPr/>
        </p:nvSpPr>
        <p:spPr>
          <a:xfrm>
            <a:off x="640080" y="1645920"/>
            <a:ext cx="10972800" cy="3657600"/>
          </a:xfrm>
          <a:prstGeom prst="rect">
            <a:avLst/>
          </a:prstGeom>
          <a:noFill/>
        </p:spPr>
        <p:txBody>
          <a:bodyPr wrap="square" lIns="0" tIns="0" rIns="0" bIns="0">
            <a:spAutoFit/>
          </a:bodyPr>
          <a:lstStyle/>
          <a:p>
            <a:pPr algn="l">
              <a:spcAft>
                <a:spcPts val="1400"/>
              </a:spcAft>
            </a:pPr>
            <a:r>
              <a:rPr sz="1800" b="0" i="0">
                <a:solidFill>
                  <a:srgbClr val="000000"/>
                </a:solidFill>
                <a:latin typeface="Arial"/>
              </a:rPr>
              <a:t>Both projects use the same 8,075-row f-element dataset (295 molecules, 28 metals), so the comparison is fair on the data.</a:t>
            </a:r>
          </a:p>
          <a:p>
            <a:pPr algn="l">
              <a:spcAft>
                <a:spcPts val="1400"/>
              </a:spcAft>
            </a:pPr>
            <a:r>
              <a:rPr sz="1800" b="0" i="0">
                <a:solidFill>
                  <a:srgbClr val="000000"/>
                </a:solidFill>
                <a:latin typeface="Arial"/>
              </a:rPr>
              <a:t>His supervised model is a 3-class XGBoost classifier that reports 72 percent accuracy on one 494-row held-out test, with no way to rank which predictions to trust.</a:t>
            </a:r>
          </a:p>
          <a:p>
            <a:pPr algn="l">
              <a:spcAft>
                <a:spcPts val="600"/>
              </a:spcAft>
            </a:pPr>
            <a:r>
              <a:rPr sz="1800" b="0" i="0">
                <a:solidFill>
                  <a:srgbClr val="000000"/>
                </a:solidFill>
                <a:latin typeface="Arial"/>
              </a:rPr>
              <a:t>Ours predicts the continuous logD value with a confidence score and an uncertainty interval, and it can also be scored as a classifier on his exact task, which the next slides do.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72800" cy="914400"/>
          </a:xfrm>
          <a:prstGeom prst="rect">
            <a:avLst/>
          </a:prstGeom>
          <a:noFill/>
        </p:spPr>
        <p:txBody>
          <a:bodyPr wrap="square" lIns="0" tIns="0" rIns="0" bIns="0">
            <a:spAutoFit/>
          </a:bodyPr>
          <a:lstStyle/>
          <a:p>
            <a:pPr algn="l">
              <a:spcAft>
                <a:spcPts val="600"/>
              </a:spcAft>
            </a:pPr>
            <a:r>
              <a:rPr sz="2900" b="1" i="0">
                <a:solidFill>
                  <a:srgbClr val="000000"/>
                </a:solidFill>
                <a:latin typeface="Arial"/>
              </a:rPr>
              <a:t>Accuracy by confidence level, versus Zhang</a:t>
            </a:r>
          </a:p>
        </p:txBody>
      </p:sp>
      <p:sp>
        <p:nvSpPr>
          <p:cNvPr id="4" name="TextBox 3"/>
          <p:cNvSpPr txBox="1"/>
          <p:nvPr/>
        </p:nvSpPr>
        <p:spPr>
          <a:xfrm>
            <a:off x="640080" y="5586983"/>
            <a:ext cx="10881360" cy="400110"/>
          </a:xfrm>
          <a:prstGeom prst="rect">
            <a:avLst/>
          </a:prstGeom>
          <a:noFill/>
        </p:spPr>
        <p:txBody>
          <a:bodyPr wrap="square" lIns="0" tIns="0" rIns="0" bIns="0">
            <a:spAutoFit/>
          </a:bodyPr>
          <a:lstStyle/>
          <a:p>
            <a:pPr algn="l">
              <a:spcAft>
                <a:spcPts val="600"/>
              </a:spcAft>
            </a:pPr>
            <a:r>
              <a:rPr sz="1300" b="0" dirty="0">
                <a:latin typeface="Arial"/>
              </a:rPr>
              <a:t>His 0.72 is a single value over all molecules. Ours can be ranked by confidence, so on the predictions it is most sure about it is far more accurate, which a single value cannot offer.</a:t>
            </a:r>
          </a:p>
        </p:txBody>
      </p:sp>
      <p:pic>
        <p:nvPicPr>
          <p:cNvPr id="5" name="Picture 4" descr="zhang_comparison_selective.png">
            <a:extLst>
              <a:ext uri="{FF2B5EF4-FFF2-40B4-BE49-F238E27FC236}">
                <a16:creationId xmlns:a16="http://schemas.microsoft.com/office/drawing/2014/main" id="{BCF9E175-855B-81FD-2E4E-B24184B7BC77}"/>
              </a:ext>
            </a:extLst>
          </p:cNvPr>
          <p:cNvPicPr>
            <a:picLocks noChangeAspect="1"/>
          </p:cNvPicPr>
          <p:nvPr/>
        </p:nvPicPr>
        <p:blipFill>
          <a:blip r:embed="rId2"/>
          <a:stretch>
            <a:fillRect/>
          </a:stretch>
        </p:blipFill>
        <p:spPr>
          <a:xfrm>
            <a:off x="2932564" y="1371600"/>
            <a:ext cx="6326872" cy="3931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72800" cy="446276"/>
          </a:xfrm>
          <a:prstGeom prst="rect">
            <a:avLst/>
          </a:prstGeom>
          <a:noFill/>
        </p:spPr>
        <p:txBody>
          <a:bodyPr wrap="square" lIns="0" tIns="0" rIns="0" bIns="0">
            <a:spAutoFit/>
          </a:bodyPr>
          <a:lstStyle/>
          <a:p>
            <a:pPr algn="l">
              <a:spcAft>
                <a:spcPts val="600"/>
              </a:spcAft>
            </a:pPr>
            <a:r>
              <a:rPr sz="2900" b="1" i="0" dirty="0">
                <a:solidFill>
                  <a:srgbClr val="000000"/>
                </a:solidFill>
                <a:latin typeface="Arial"/>
              </a:rPr>
              <a:t>Our </a:t>
            </a:r>
            <a:r>
              <a:rPr lang="en-US" sz="2900" b="1" i="0" dirty="0">
                <a:solidFill>
                  <a:srgbClr val="000000"/>
                </a:solidFill>
                <a:latin typeface="Arial"/>
              </a:rPr>
              <a:t>model</a:t>
            </a:r>
            <a:r>
              <a:rPr sz="2900" b="1" i="0" dirty="0">
                <a:solidFill>
                  <a:srgbClr val="000000"/>
                </a:solidFill>
                <a:latin typeface="Arial"/>
              </a:rPr>
              <a:t> on Dr. Zhang's test set</a:t>
            </a:r>
          </a:p>
        </p:txBody>
      </p:sp>
      <p:sp>
        <p:nvSpPr>
          <p:cNvPr id="4" name="TextBox 3"/>
          <p:cNvSpPr txBox="1"/>
          <p:nvPr/>
        </p:nvSpPr>
        <p:spPr>
          <a:xfrm>
            <a:off x="640080" y="5586983"/>
            <a:ext cx="10881360" cy="400110"/>
          </a:xfrm>
          <a:prstGeom prst="rect">
            <a:avLst/>
          </a:prstGeom>
          <a:noFill/>
        </p:spPr>
        <p:txBody>
          <a:bodyPr wrap="square" lIns="0" tIns="0" rIns="0" bIns="0">
            <a:spAutoFit/>
          </a:bodyPr>
          <a:lstStyle/>
          <a:p>
            <a:pPr algn="l">
              <a:spcAft>
                <a:spcPts val="600"/>
              </a:spcAft>
            </a:pPr>
            <a:r>
              <a:rPr sz="1300" b="0" dirty="0">
                <a:latin typeface="Arial"/>
              </a:rPr>
              <a:t>On his exact 494-row test our model reaches 0.692, essentially matching his 0.72, and our confidence then sorts the reliable predictions to 0.863 over the top quarter and 1.000 over the most confident fifty.</a:t>
            </a:r>
          </a:p>
        </p:txBody>
      </p:sp>
      <p:pic>
        <p:nvPicPr>
          <p:cNvPr id="5" name="Picture 4" descr="zhang_his_split_headtohead.png">
            <a:extLst>
              <a:ext uri="{FF2B5EF4-FFF2-40B4-BE49-F238E27FC236}">
                <a16:creationId xmlns:a16="http://schemas.microsoft.com/office/drawing/2014/main" id="{2A949DC1-1F1F-5F2D-526B-71F66713B07C}"/>
              </a:ext>
            </a:extLst>
          </p:cNvPr>
          <p:cNvPicPr>
            <a:picLocks noChangeAspect="1"/>
          </p:cNvPicPr>
          <p:nvPr/>
        </p:nvPicPr>
        <p:blipFill>
          <a:blip r:embed="rId2"/>
          <a:stretch>
            <a:fillRect/>
          </a:stretch>
        </p:blipFill>
        <p:spPr>
          <a:xfrm>
            <a:off x="3126846" y="1508760"/>
            <a:ext cx="5938001" cy="39319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72800" cy="914400"/>
          </a:xfrm>
          <a:prstGeom prst="rect">
            <a:avLst/>
          </a:prstGeom>
          <a:noFill/>
        </p:spPr>
        <p:txBody>
          <a:bodyPr wrap="square" lIns="0" tIns="0" rIns="0" bIns="0">
            <a:spAutoFit/>
          </a:bodyPr>
          <a:lstStyle/>
          <a:p>
            <a:pPr algn="l">
              <a:spcAft>
                <a:spcPts val="600"/>
              </a:spcAft>
            </a:pPr>
            <a:r>
              <a:rPr sz="2900" b="1" i="0">
                <a:solidFill>
                  <a:srgbClr val="000000"/>
                </a:solidFill>
                <a:latin typeface="Arial"/>
              </a:rPr>
              <a:t>Effect of model and split</a:t>
            </a:r>
          </a:p>
        </p:txBody>
      </p:sp>
      <p:graphicFrame>
        <p:nvGraphicFramePr>
          <p:cNvPr id="3" name="Table 2"/>
          <p:cNvGraphicFramePr>
            <a:graphicFrameLocks noGrp="1"/>
          </p:cNvGraphicFramePr>
          <p:nvPr>
            <p:extLst>
              <p:ext uri="{D42A27DB-BD31-4B8C-83A1-F6EECF244321}">
                <p14:modId xmlns:p14="http://schemas.microsoft.com/office/powerpoint/2010/main" val="2732759362"/>
              </p:ext>
            </p:extLst>
          </p:nvPr>
        </p:nvGraphicFramePr>
        <p:xfrm>
          <a:off x="822960" y="1691640"/>
          <a:ext cx="10515600" cy="2377440"/>
        </p:xfrm>
        <a:graphic>
          <a:graphicData uri="http://schemas.openxmlformats.org/drawingml/2006/table">
            <a:tbl>
              <a:tblPr firstRow="1" bandRow="1">
                <a:tableStyleId>{5C22544A-7EE6-4342-B048-85BDC9FD1C3A}</a:tableStyleId>
              </a:tblPr>
              <a:tblGrid>
                <a:gridCol w="39319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792480">
                <a:tc>
                  <a:txBody>
                    <a:bodyPr/>
                    <a:lstStyle/>
                    <a:p>
                      <a:endParaRPr/>
                    </a:p>
                  </a:txBody>
                  <a:tcPr>
                    <a:solidFill>
                      <a:srgbClr val="FFFFFF"/>
                    </a:solidFill>
                  </a:tcPr>
                </a:tc>
                <a:tc>
                  <a:txBody>
                    <a:bodyPr/>
                    <a:lstStyle/>
                    <a:p>
                      <a:r>
                        <a:rPr sz="1500" b="1">
                          <a:solidFill>
                            <a:srgbClr val="000000"/>
                          </a:solidFill>
                          <a:latin typeface="Arial"/>
                        </a:rPr>
                        <a:t>Our split (cross-validation)</a:t>
                      </a:r>
                    </a:p>
                  </a:txBody>
                  <a:tcPr>
                    <a:solidFill>
                      <a:srgbClr val="FFFFFF"/>
                    </a:solidFill>
                  </a:tcPr>
                </a:tc>
                <a:tc>
                  <a:txBody>
                    <a:bodyPr/>
                    <a:lstStyle/>
                    <a:p>
                      <a:r>
                        <a:rPr lang="en-US" sz="1500" b="1" dirty="0">
                          <a:solidFill>
                            <a:srgbClr val="000000"/>
                          </a:solidFill>
                          <a:latin typeface="Arial"/>
                        </a:rPr>
                        <a:t>Dr. Zhang’s</a:t>
                      </a:r>
                      <a:r>
                        <a:rPr sz="1500" b="1" dirty="0">
                          <a:solidFill>
                            <a:srgbClr val="000000"/>
                          </a:solidFill>
                          <a:latin typeface="Arial"/>
                        </a:rPr>
                        <a:t> split (494-row holdout)</a:t>
                      </a:r>
                    </a:p>
                  </a:txBody>
                  <a:tcPr>
                    <a:solidFill>
                      <a:srgbClr val="FFFFFF"/>
                    </a:solidFill>
                  </a:tcPr>
                </a:tc>
                <a:extLst>
                  <a:ext uri="{0D108BD9-81ED-4DB2-BD59-A6C34878D82A}">
                    <a16:rowId xmlns:a16="http://schemas.microsoft.com/office/drawing/2014/main" val="10000"/>
                  </a:ext>
                </a:extLst>
              </a:tr>
              <a:tr h="792480">
                <a:tc>
                  <a:txBody>
                    <a:bodyPr/>
                    <a:lstStyle/>
                    <a:p>
                      <a:r>
                        <a:rPr sz="1500" b="1" dirty="0">
                          <a:solidFill>
                            <a:srgbClr val="000000"/>
                          </a:solidFill>
                          <a:latin typeface="Arial"/>
                        </a:rPr>
                        <a:t>Our </a:t>
                      </a:r>
                      <a:r>
                        <a:rPr lang="en-US" sz="1500" b="1" dirty="0">
                          <a:solidFill>
                            <a:srgbClr val="000000"/>
                          </a:solidFill>
                          <a:latin typeface="Arial"/>
                        </a:rPr>
                        <a:t>model (</a:t>
                      </a:r>
                      <a:r>
                        <a:rPr lang="en-US" sz="1500" b="1" dirty="0" err="1">
                          <a:solidFill>
                            <a:srgbClr val="000000"/>
                          </a:solidFill>
                          <a:latin typeface="Arial"/>
                        </a:rPr>
                        <a:t>LightGBM</a:t>
                      </a:r>
                      <a:r>
                        <a:rPr lang="en-US" sz="1500" b="1" dirty="0">
                          <a:solidFill>
                            <a:srgbClr val="000000"/>
                          </a:solidFill>
                          <a:latin typeface="Arial"/>
                        </a:rPr>
                        <a:t>)</a:t>
                      </a:r>
                      <a:endParaRPr sz="1500" b="1" dirty="0">
                        <a:solidFill>
                          <a:srgbClr val="000000"/>
                        </a:solidFill>
                        <a:latin typeface="Arial"/>
                      </a:endParaRPr>
                    </a:p>
                  </a:txBody>
                  <a:tcPr>
                    <a:solidFill>
                      <a:srgbClr val="FFFFFF"/>
                    </a:solidFill>
                  </a:tcPr>
                </a:tc>
                <a:tc>
                  <a:txBody>
                    <a:bodyPr/>
                    <a:lstStyle/>
                    <a:p>
                      <a:r>
                        <a:rPr sz="1500" b="0">
                          <a:solidFill>
                            <a:srgbClr val="000000"/>
                          </a:solidFill>
                          <a:latin typeface="Arial"/>
                        </a:rPr>
                        <a:t>0.657</a:t>
                      </a:r>
                    </a:p>
                  </a:txBody>
                  <a:tcPr>
                    <a:solidFill>
                      <a:srgbClr val="FFFFFF"/>
                    </a:solidFill>
                  </a:tcPr>
                </a:tc>
                <a:tc>
                  <a:txBody>
                    <a:bodyPr/>
                    <a:lstStyle/>
                    <a:p>
                      <a:r>
                        <a:rPr sz="1500" b="0">
                          <a:solidFill>
                            <a:srgbClr val="000000"/>
                          </a:solidFill>
                          <a:latin typeface="Arial"/>
                        </a:rPr>
                        <a:t>0.692</a:t>
                      </a:r>
                    </a:p>
                  </a:txBody>
                  <a:tcPr>
                    <a:solidFill>
                      <a:srgbClr val="FFFFFF"/>
                    </a:solidFill>
                  </a:tcPr>
                </a:tc>
                <a:extLst>
                  <a:ext uri="{0D108BD9-81ED-4DB2-BD59-A6C34878D82A}">
                    <a16:rowId xmlns:a16="http://schemas.microsoft.com/office/drawing/2014/main" val="10001"/>
                  </a:ext>
                </a:extLst>
              </a:tr>
              <a:tr h="792480">
                <a:tc>
                  <a:txBody>
                    <a:bodyPr/>
                    <a:lstStyle/>
                    <a:p>
                      <a:r>
                        <a:rPr lang="en-US" sz="1500" b="1" dirty="0">
                          <a:solidFill>
                            <a:srgbClr val="000000"/>
                          </a:solidFill>
                          <a:latin typeface="Arial"/>
                        </a:rPr>
                        <a:t>Dr. Zhang’s </a:t>
                      </a:r>
                      <a:r>
                        <a:rPr sz="1500" b="1" dirty="0">
                          <a:solidFill>
                            <a:srgbClr val="000000"/>
                          </a:solidFill>
                          <a:latin typeface="Arial"/>
                        </a:rPr>
                        <a:t>model (</a:t>
                      </a:r>
                      <a:r>
                        <a:rPr sz="1500" b="1" dirty="0" err="1">
                          <a:solidFill>
                            <a:srgbClr val="000000"/>
                          </a:solidFill>
                          <a:latin typeface="Arial"/>
                        </a:rPr>
                        <a:t>XGBoost</a:t>
                      </a:r>
                      <a:r>
                        <a:rPr sz="1500" b="1" dirty="0">
                          <a:solidFill>
                            <a:srgbClr val="000000"/>
                          </a:solidFill>
                          <a:latin typeface="Arial"/>
                        </a:rPr>
                        <a:t>)</a:t>
                      </a:r>
                    </a:p>
                  </a:txBody>
                  <a:tcPr>
                    <a:solidFill>
                      <a:srgbClr val="FFFFFF"/>
                    </a:solidFill>
                  </a:tcPr>
                </a:tc>
                <a:tc>
                  <a:txBody>
                    <a:bodyPr/>
                    <a:lstStyle/>
                    <a:p>
                      <a:r>
                        <a:rPr sz="1500" b="0">
                          <a:solidFill>
                            <a:srgbClr val="000000"/>
                          </a:solidFill>
                          <a:latin typeface="Arial"/>
                        </a:rPr>
                        <a:t>0.648</a:t>
                      </a:r>
                    </a:p>
                  </a:txBody>
                  <a:tcPr>
                    <a:solidFill>
                      <a:srgbClr val="FFFFFF"/>
                    </a:solidFill>
                  </a:tcPr>
                </a:tc>
                <a:tc>
                  <a:txBody>
                    <a:bodyPr/>
                    <a:lstStyle/>
                    <a:p>
                      <a:r>
                        <a:rPr sz="1500" b="0" dirty="0">
                          <a:solidFill>
                            <a:srgbClr val="000000"/>
                          </a:solidFill>
                          <a:latin typeface="Arial"/>
                        </a:rPr>
                        <a:t>0.680  (his tuned: 0.72)</a:t>
                      </a:r>
                    </a:p>
                  </a:txBody>
                  <a:tcPr>
                    <a:solidFill>
                      <a:srgbClr val="FFFFFF"/>
                    </a:solidFill>
                  </a:tcPr>
                </a:tc>
                <a:extLst>
                  <a:ext uri="{0D108BD9-81ED-4DB2-BD59-A6C34878D82A}">
                    <a16:rowId xmlns:a16="http://schemas.microsoft.com/office/drawing/2014/main" val="10002"/>
                  </a:ext>
                </a:extLst>
              </a:tr>
            </a:tbl>
          </a:graphicData>
        </a:graphic>
      </p:graphicFrame>
      <p:sp>
        <p:nvSpPr>
          <p:cNvPr id="4" name="TextBox 3"/>
          <p:cNvSpPr txBox="1"/>
          <p:nvPr/>
        </p:nvSpPr>
        <p:spPr>
          <a:xfrm>
            <a:off x="640080" y="4434840"/>
            <a:ext cx="10881360" cy="600164"/>
          </a:xfrm>
          <a:prstGeom prst="rect">
            <a:avLst/>
          </a:prstGeom>
          <a:noFill/>
        </p:spPr>
        <p:txBody>
          <a:bodyPr wrap="square" lIns="0" tIns="0" rIns="0" bIns="0">
            <a:spAutoFit/>
          </a:bodyPr>
          <a:lstStyle/>
          <a:p>
            <a:pPr algn="l">
              <a:spcAft>
                <a:spcPts val="600"/>
              </a:spcAft>
            </a:pPr>
            <a:r>
              <a:rPr sz="1300" b="0" dirty="0">
                <a:latin typeface="Arial"/>
              </a:rPr>
              <a:t>Same data and features throughout. On a common split the two models are about equal, ours slightly ahead, and the single held-out test reads a little higher than cross-validation for both, so the split explains most of the gap rather than the model. The bottom-right is an untuned reproduction of his </a:t>
            </a:r>
            <a:r>
              <a:rPr sz="1300" b="0" dirty="0" err="1">
                <a:latin typeface="Arial"/>
              </a:rPr>
              <a:t>XGBoost</a:t>
            </a:r>
            <a:r>
              <a:rPr sz="1300" b="0" dirty="0">
                <a:latin typeface="Arial"/>
              </a:rPr>
              <a:t> at 0.680, while his grid-tuned version reported 0.72. Our model on our own cross-validation is the top-left at 0.657.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72800" cy="914400"/>
          </a:xfrm>
          <a:prstGeom prst="rect">
            <a:avLst/>
          </a:prstGeom>
          <a:noFill/>
        </p:spPr>
        <p:txBody>
          <a:bodyPr wrap="square" lIns="0" tIns="0" rIns="0" bIns="0">
            <a:spAutoFit/>
          </a:bodyPr>
          <a:lstStyle/>
          <a:p>
            <a:pPr algn="l">
              <a:spcAft>
                <a:spcPts val="600"/>
              </a:spcAft>
            </a:pPr>
            <a:r>
              <a:rPr sz="2900" b="1" i="0">
                <a:solidFill>
                  <a:srgbClr val="000000"/>
                </a:solidFill>
                <a:latin typeface="Arial"/>
              </a:rPr>
              <a:t>Training on Dr. Zhang's data</a:t>
            </a:r>
          </a:p>
        </p:txBody>
      </p:sp>
      <p:sp>
        <p:nvSpPr>
          <p:cNvPr id="4" name="TextBox 3"/>
          <p:cNvSpPr txBox="1"/>
          <p:nvPr/>
        </p:nvSpPr>
        <p:spPr>
          <a:xfrm>
            <a:off x="640080" y="5404104"/>
            <a:ext cx="10881360" cy="400110"/>
          </a:xfrm>
          <a:prstGeom prst="rect">
            <a:avLst/>
          </a:prstGeom>
          <a:noFill/>
        </p:spPr>
        <p:txBody>
          <a:bodyPr wrap="square" lIns="0" tIns="0" rIns="0" bIns="0">
            <a:spAutoFit/>
          </a:bodyPr>
          <a:lstStyle/>
          <a:p>
            <a:pPr algn="l">
              <a:spcAft>
                <a:spcPts val="600"/>
              </a:spcAft>
            </a:pPr>
            <a:r>
              <a:rPr sz="1300" b="0" dirty="0">
                <a:latin typeface="Arial"/>
              </a:rPr>
              <a:t>Training on his data reproduces our results, so his dataset is not better, it is the same; the edge is the feature engineering and the confidence layer, not the data.</a:t>
            </a:r>
          </a:p>
        </p:txBody>
      </p:sp>
      <p:pic>
        <p:nvPicPr>
          <p:cNvPr id="5" name="Picture 4" descr="our_data_vs_zhang_data.png">
            <a:extLst>
              <a:ext uri="{FF2B5EF4-FFF2-40B4-BE49-F238E27FC236}">
                <a16:creationId xmlns:a16="http://schemas.microsoft.com/office/drawing/2014/main" id="{89845BAA-A001-9FC1-4EB5-02D215B3E6AC}"/>
              </a:ext>
            </a:extLst>
          </p:cNvPr>
          <p:cNvPicPr>
            <a:picLocks noChangeAspect="1"/>
          </p:cNvPicPr>
          <p:nvPr/>
        </p:nvPicPr>
        <p:blipFill>
          <a:blip r:embed="rId2"/>
          <a:stretch>
            <a:fillRect/>
          </a:stretch>
        </p:blipFill>
        <p:spPr>
          <a:xfrm>
            <a:off x="2292394" y="1554480"/>
            <a:ext cx="7576731" cy="374903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972800" cy="914400"/>
          </a:xfrm>
          <a:prstGeom prst="rect">
            <a:avLst/>
          </a:prstGeom>
          <a:noFill/>
        </p:spPr>
        <p:txBody>
          <a:bodyPr wrap="square" lIns="0" tIns="0" rIns="0" bIns="0">
            <a:spAutoFit/>
          </a:bodyPr>
          <a:lstStyle/>
          <a:p>
            <a:pPr algn="l">
              <a:spcAft>
                <a:spcPts val="600"/>
              </a:spcAft>
            </a:pPr>
            <a:r>
              <a:rPr sz="2900" b="1" i="0">
                <a:solidFill>
                  <a:srgbClr val="000000"/>
                </a:solidFill>
                <a:latin typeface="Arial"/>
              </a:rPr>
              <a:t>Summary</a:t>
            </a:r>
          </a:p>
        </p:txBody>
      </p:sp>
      <p:sp>
        <p:nvSpPr>
          <p:cNvPr id="3" name="TextBox 2"/>
          <p:cNvSpPr txBox="1"/>
          <p:nvPr/>
        </p:nvSpPr>
        <p:spPr>
          <a:xfrm>
            <a:off x="640080" y="1508760"/>
            <a:ext cx="10972800" cy="4937760"/>
          </a:xfrm>
          <a:prstGeom prst="rect">
            <a:avLst/>
          </a:prstGeom>
          <a:noFill/>
        </p:spPr>
        <p:txBody>
          <a:bodyPr wrap="square" lIns="0" tIns="0" rIns="0" bIns="0">
            <a:spAutoFit/>
          </a:bodyPr>
          <a:lstStyle/>
          <a:p>
            <a:pPr algn="l">
              <a:spcAft>
                <a:spcPts val="1200"/>
              </a:spcAft>
            </a:pPr>
            <a:r>
              <a:rPr sz="1700" b="0" i="0">
                <a:solidFill>
                  <a:srgbClr val="000000"/>
                </a:solidFill>
                <a:latin typeface="Arial"/>
              </a:rPr>
              <a:t>The dataset is shared with Dr. Zhang, so the difference is method, not data.</a:t>
            </a:r>
          </a:p>
          <a:p>
            <a:pPr algn="l">
              <a:spcAft>
                <a:spcPts val="1200"/>
              </a:spcAft>
            </a:pPr>
            <a:r>
              <a:rPr sz="1700" b="0" i="0">
                <a:solidFill>
                  <a:srgbClr val="000000"/>
                </a:solidFill>
                <a:latin typeface="Arial"/>
              </a:rPr>
              <a:t>On his exact test our model matches his accuracy, 0.69 against 0.72, and on a common split the two models are about equal.</a:t>
            </a:r>
          </a:p>
          <a:p>
            <a:pPr algn="l">
              <a:spcAft>
                <a:spcPts val="1200"/>
              </a:spcAft>
            </a:pPr>
            <a:r>
              <a:rPr sz="1700" b="0" i="0">
                <a:solidFill>
                  <a:srgbClr val="000000"/>
                </a:solidFill>
                <a:latin typeface="Arial"/>
              </a:rPr>
              <a:t>The confidence score estimates each prediction's error, so the most confident predictions are far more accurate, up to 1.000 on the most confident fifty of his test.</a:t>
            </a:r>
          </a:p>
          <a:p>
            <a:pPr algn="l">
              <a:spcAft>
                <a:spcPts val="1200"/>
              </a:spcAft>
            </a:pPr>
            <a:r>
              <a:rPr sz="1700" b="0" i="0">
                <a:solidFill>
                  <a:srgbClr val="000000"/>
                </a:solidFill>
                <a:latin typeface="Arial"/>
              </a:rPr>
              <a:t>Confidence shifts sensibly across metals and metal pairs, staying high where the model is accurate and dropping where it is not.</a:t>
            </a:r>
          </a:p>
          <a:p>
            <a:pPr algn="l">
              <a:spcAft>
                <a:spcPts val="1200"/>
              </a:spcAft>
            </a:pPr>
            <a:r>
              <a:rPr sz="1700" b="0" i="0">
                <a:solidFill>
                  <a:srgbClr val="000000"/>
                </a:solidFill>
                <a:latin typeface="Arial"/>
              </a:rPr>
              <a:t>Beyond a class, our model returns the continuous logD value and a calibrated uncertainty interval, neither of which his classifier provides.</a:t>
            </a:r>
          </a:p>
          <a:p>
            <a:pPr algn="l">
              <a:spcAft>
                <a:spcPts val="1200"/>
              </a:spcAft>
            </a:pPr>
            <a:r>
              <a:rPr sz="1700" b="0" i="0">
                <a:solidFill>
                  <a:srgbClr val="000000"/>
                </a:solidFill>
                <a:latin typeface="Arial"/>
              </a:rPr>
              <a:t>Next steps: a direct separation-factor model and replicate averaging to push past the current ceilings.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40</TotalTime>
  <Words>1462</Words>
  <Application>Microsoft Macintosh PowerPoint</Application>
  <PresentationFormat>Widescreen</PresentationFormat>
  <Paragraphs>79</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Skyler Epstein</cp:lastModifiedBy>
  <cp:revision>8</cp:revision>
  <dcterms:created xsi:type="dcterms:W3CDTF">2013-01-27T09:14:16Z</dcterms:created>
  <dcterms:modified xsi:type="dcterms:W3CDTF">2026-06-24T15:50:35Z</dcterms:modified>
  <cp:category/>
</cp:coreProperties>
</file>